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I'm Mengjia Shang and today I'll present my EE559 project: predicting wine quality from physicochemical measurements. I'll walk through the dataset, my feature engineering decisions, three supervised learning models, and a rigorous comparison including bootstrap confidence intervals, McNemar's significance tests, and a multi-seed robustness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Wine quality is traditionally assessed by certified tasters — but this is expensive and inconsistent. Physicochemical properties like alcohol content, acidity, and sulfur dioxide are already measured in the lab. If we can train a model on these measurements, we get a reproducible, instant quality estimate at no extra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binary classification. Given 11 physicochemical inputs, we predict whether a wine will score 6 or above. The class distribution is mildly imbalanced at 63 to 37 — which is why I tuned class_weight equals balanced for the linear and kernel models alongside the regularization parameter.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standard EDA, I computed Variance Inflation Factors. Three features cross the conventional warning threshold of 10 — volatile acidity at 39, the engineered acidity_ratio at 37, and density at 15. To act on this insight, I ran a follow-up experiment: training Random Forest with and without density. The AUC difference is essentially zero, confirming density adds no independent information for tree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preprocessing steps. Outlier winsorization, wine-type indicator, SO2 ratio, acidity ratio, and standardization. All statistics computed on the training fold only — no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protocol has four pillars. First, stratified 70-15-15 split. Second, hyperparameter tuning happens entirely inside cross-validation on the training set. Third — and this is upgraded from my midway report — class_weight balanced is tuned for all three models, not just Random Forest. Fourth, I report not just point estimates but bootstrap confidence intervals, McNemar significance tests, and multi-seed robustness.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is the interpretable linear baseline. The balanced class weight is the key tuning choice — without it, low-quality recall would be only 0.56. With balanced weighting, recall climbs to 0.74, more than compensating for the modest accuracy decrease.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RBF SVM also benefits from balanced class weighting. With balanced weights, the SVM achieves the best minority-class recall of any model — 0.796 — meaning it catches the most defective bottles. This becomes important when we discuss the practical interpretation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interesting finding: RF was the only model where class_weight equals None won the grid search. This is because bootstrap sampling provides implicit balancing — each tree sees a re-sampled training set. RF achieves the highest overall AUC and, surprisingly, the best probability calibration as measured by the Brier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final test set ROC curves with their 95 percent bootstrap confidence intervals. The Random Forest curve dominates throughout the operating range. Random Forest achieves test ROC-AUC of 0.904 with confidence interval 0.883 to 0.922, PR-AUC of 0.938, and the lowest Brier score at 0.124. Critically, none of the AUC confidence intervals overlap between any two models, so the ranking is statistically robust.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independent statistical analyses confirm the ranking is real. On the left, McNemar's test on test-set predictions gives p-values below 0.001 for all three pairwise comparisons. On the right, the multi-seed boxplot shows test ROC-AUC across 5 different stratified splits — and the boxes are clearly disjoint between every pair of models. The ranking is not seed-dependent.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interesting findings of the project. SVM with balanced class weights achieves the highest minority-class recall — it catches the most defective bottles. Random Forest achieves the highest minority-class precision — its alarms are most reliable. The right model depends on the cost ratio between shipping a defective bottle and re-testing a good one. This is a much richer story than just picking the model with the highest AUC.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methodological insight of the project. The ablation bar chart shows test ROC-AUC for each model trained on the 11 base features alone versus all 14 features. Logistic Regression gets the largest benefit — delta-AUC of plus 0.008 — because the linear boundary cannot discover the ratio relationships on its own. SVM gets essentially zero because the RBF kernel implicitly captures the same information. Random Forest gets a small boost because deep trees can already rediscover most ratio relationships from raw inputs. The pattern is exactly the predicted hierarchy: feature engineering matters more for lower-capacity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important secondary results, both shown as actual figures from the pipeline. On the left, the reliability diagram. The diagonal represents perfect calibration. Random Forest tracks the diagonal most closely — Brier 0.124. Logistic Regression systematically over-predicts in the low-probability bins because balanced class weighting pushes probabilities toward 0.5. On the right, Random Forest feature importances. Alcohol dominates as predicted by the EDA correlation of plus 0.44. The engineered acidity_ratio and so2_ratio features rank in the top-5, confirming their domain-motivated construction was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Random Forest wins on overall metrics including AUC, F1, and calibration. But SVM with balanced class weights actually wins on minority-class recall — the most operationally important metric for a production quality gate. All pairwise differences are statistically significant under McNemar's test, and the ranking is robust across five random seeds. The all-model ablation confirms engineered features help linear models most. Density is confirmed redundant by both VIF and ablation.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297680"/>
            <a:ext cx="9144000" cy="845820"/>
          </a:xfrm>
          <a:prstGeom prst="rect">
            <a:avLst/>
          </a:prstGeom>
          <a:solidFill>
            <a:srgbClr val="7B1E2C"/>
          </a:solidFill>
          <a:ln w="12700">
            <a:solidFill>
              <a:srgbClr val="7B1E2C"/>
            </a:solidFill>
            <a:prstDash val="solid"/>
          </a:ln>
        </p:spPr>
      </p:sp>
      <p:sp>
        <p:nvSpPr>
          <p:cNvPr id="3" name="Shape 1"/>
          <p:cNvSpPr/>
          <p:nvPr/>
        </p:nvSpPr>
        <p:spPr>
          <a:xfrm>
            <a:off x="0" y="0"/>
            <a:ext cx="109728" cy="5143500"/>
          </a:xfrm>
          <a:prstGeom prst="rect">
            <a:avLst/>
          </a:prstGeom>
          <a:solidFill>
            <a:srgbClr val="7B1E2C"/>
          </a:solidFill>
          <a:ln w="12700">
            <a:solidFill>
              <a:srgbClr val="7B1E2C"/>
            </a:solidFill>
            <a:prstDash val="solid"/>
          </a:ln>
        </p:spPr>
      </p:sp>
      <p:sp>
        <p:nvSpPr>
          <p:cNvPr id="4" name="Text 2"/>
          <p:cNvSpPr/>
          <p:nvPr/>
        </p:nvSpPr>
        <p:spPr>
          <a:xfrm>
            <a:off x="320040" y="822960"/>
            <a:ext cx="8503920" cy="777240"/>
          </a:xfrm>
          <a:prstGeom prst="rect">
            <a:avLst/>
          </a:prstGeom>
          <a:noFill/>
          <a:ln/>
        </p:spPr>
        <p:txBody>
          <a:bodyPr wrap="square" lIns="0" tIns="0" rIns="0" bIns="0" rtlCol="0" anchor="ctr"/>
          <a:lstStyle/>
          <a:p>
            <a:pPr algn="l" indent="0" marL="0">
              <a:buNone/>
            </a:pPr>
            <a:r>
              <a:rPr lang="en-US" sz="3800" b="1" dirty="0">
                <a:solidFill>
                  <a:srgbClr val="FFFFFF"/>
                </a:solidFill>
                <a:latin typeface="Calibri" pitchFamily="34" charset="0"/>
                <a:ea typeface="Calibri" pitchFamily="34" charset="-122"/>
                <a:cs typeface="Calibri" pitchFamily="34" charset="-120"/>
              </a:rPr>
              <a:t>Predicting Wine Quality</a:t>
            </a:r>
            <a:endParaRPr lang="en-US" sz="3800" dirty="0"/>
          </a:p>
        </p:txBody>
      </p:sp>
      <p:sp>
        <p:nvSpPr>
          <p:cNvPr id="5" name="Text 3"/>
          <p:cNvSpPr/>
          <p:nvPr/>
        </p:nvSpPr>
        <p:spPr>
          <a:xfrm>
            <a:off x="320040" y="1572768"/>
            <a:ext cx="8503920" cy="685800"/>
          </a:xfrm>
          <a:prstGeom prst="rect">
            <a:avLst/>
          </a:prstGeom>
          <a:noFill/>
          <a:ln/>
        </p:spPr>
        <p:txBody>
          <a:bodyPr wrap="square" lIns="0" tIns="0" rIns="0" bIns="0" rtlCol="0" anchor="ctr"/>
          <a:lstStyle/>
          <a:p>
            <a:pPr algn="l" indent="0" marL="0">
              <a:buNone/>
            </a:pPr>
            <a:r>
              <a:rPr lang="en-US" sz="3200" dirty="0">
                <a:solidFill>
                  <a:srgbClr val="C9A84C"/>
                </a:solidFill>
                <a:latin typeface="Calibri" pitchFamily="34" charset="0"/>
                <a:ea typeface="Calibri" pitchFamily="34" charset="-122"/>
                <a:cs typeface="Calibri" pitchFamily="34" charset="-120"/>
              </a:rPr>
              <a:t>from Physicochemical Properties</a:t>
            </a:r>
            <a:endParaRPr lang="en-US" sz="3200" dirty="0"/>
          </a:p>
        </p:txBody>
      </p:sp>
      <p:sp>
        <p:nvSpPr>
          <p:cNvPr id="6" name="Shape 4"/>
          <p:cNvSpPr/>
          <p:nvPr/>
        </p:nvSpPr>
        <p:spPr>
          <a:xfrm>
            <a:off x="320040" y="2331720"/>
            <a:ext cx="3840480" cy="36576"/>
          </a:xfrm>
          <a:prstGeom prst="rect">
            <a:avLst/>
          </a:prstGeom>
          <a:solidFill>
            <a:srgbClr val="9BB0CC"/>
          </a:solidFill>
          <a:ln w="12700">
            <a:solidFill>
              <a:srgbClr val="9BB0CC"/>
            </a:solidFill>
            <a:prstDash val="solid"/>
          </a:ln>
        </p:spPr>
      </p:sp>
      <p:sp>
        <p:nvSpPr>
          <p:cNvPr id="7" name="Text 5"/>
          <p:cNvSpPr/>
          <p:nvPr/>
        </p:nvSpPr>
        <p:spPr>
          <a:xfrm>
            <a:off x="320040" y="2423160"/>
            <a:ext cx="8503920" cy="411480"/>
          </a:xfrm>
          <a:prstGeom prst="rect">
            <a:avLst/>
          </a:prstGeom>
          <a:noFill/>
          <a:ln/>
        </p:spPr>
        <p:txBody>
          <a:bodyPr wrap="square" lIns="0" tIns="0" rIns="0" bIns="0" rtlCol="0" anchor="ctr"/>
          <a:lstStyle/>
          <a:p>
            <a:pPr algn="l" indent="0" marL="0">
              <a:buNone/>
            </a:pPr>
            <a:r>
              <a:rPr lang="en-US" sz="1600" i="1" dirty="0">
                <a:solidFill>
                  <a:srgbClr val="9BB0CC"/>
                </a:solidFill>
                <a:latin typeface="Calibri" pitchFamily="34" charset="0"/>
                <a:ea typeface="Calibri" pitchFamily="34" charset="-122"/>
                <a:cs typeface="Calibri" pitchFamily="34" charset="-120"/>
              </a:rPr>
              <a:t>A Comparative Study of Supervised Learning Methods</a:t>
            </a:r>
            <a:endParaRPr lang="en-US" sz="1600" dirty="0"/>
          </a:p>
        </p:txBody>
      </p:sp>
      <p:sp>
        <p:nvSpPr>
          <p:cNvPr id="8" name="Text 6"/>
          <p:cNvSpPr/>
          <p:nvPr/>
        </p:nvSpPr>
        <p:spPr>
          <a:xfrm>
            <a:off x="320040" y="4343400"/>
            <a:ext cx="5486400" cy="29260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Mengjia Shang  ·  ID: 7338151449</a:t>
            </a:r>
            <a:endParaRPr lang="en-US" sz="1300" dirty="0"/>
          </a:p>
        </p:txBody>
      </p:sp>
      <p:sp>
        <p:nvSpPr>
          <p:cNvPr id="9" name="Text 7"/>
          <p:cNvSpPr/>
          <p:nvPr/>
        </p:nvSpPr>
        <p:spPr>
          <a:xfrm>
            <a:off x="320040" y="4636008"/>
            <a:ext cx="8503920" cy="274320"/>
          </a:xfrm>
          <a:prstGeom prst="rect">
            <a:avLst/>
          </a:prstGeom>
          <a:noFill/>
          <a:ln/>
        </p:spPr>
        <p:txBody>
          <a:bodyPr wrap="square" lIns="0" tIns="0" rIns="0" bIns="0" rtlCol="0" anchor="ctr"/>
          <a:lstStyle/>
          <a:p>
            <a:pPr algn="l" indent="0" marL="0">
              <a:buNone/>
            </a:pPr>
            <a:r>
              <a:rPr lang="en-US" sz="1100" dirty="0">
                <a:solidFill>
                  <a:srgbClr val="FFCCD5"/>
                </a:solidFill>
                <a:latin typeface="Calibri" pitchFamily="34" charset="0"/>
                <a:ea typeface="Calibri" pitchFamily="34" charset="-122"/>
                <a:cs typeface="Calibri" pitchFamily="34" charset="-120"/>
              </a:rPr>
              <a:t>EE559/CSCI 559 — Spring 2026  ·  Prof. Anand A. Joshi  ·  USC</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7B1E2C"/>
          </a:solidFill>
          <a:ln w="12700">
            <a:solidFill>
              <a:srgbClr val="7B1E2C"/>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Why Automate Wine Quality Assessment?</a:t>
            </a:r>
            <a:endParaRPr lang="en-US" sz="2400" dirty="0"/>
          </a:p>
        </p:txBody>
      </p:sp>
      <p:sp>
        <p:nvSpPr>
          <p:cNvPr id="4" name="Shape 2"/>
          <p:cNvSpPr/>
          <p:nvPr/>
        </p:nvSpPr>
        <p:spPr>
          <a:xfrm>
            <a:off x="457200" y="749808"/>
            <a:ext cx="1097280" cy="32004"/>
          </a:xfrm>
          <a:prstGeom prst="rect">
            <a:avLst/>
          </a:prstGeom>
          <a:solidFill>
            <a:srgbClr val="C9A84C"/>
          </a:solidFill>
          <a:ln w="12700">
            <a:solidFill>
              <a:srgbClr val="C9A84C"/>
            </a:solidFill>
            <a:prstDash val="solid"/>
          </a:ln>
        </p:spPr>
      </p:sp>
      <p:sp>
        <p:nvSpPr>
          <p:cNvPr id="5" name="Shape 3"/>
          <p:cNvSpPr/>
          <p:nvPr/>
        </p:nvSpPr>
        <p:spPr>
          <a:xfrm>
            <a:off x="365760" y="914400"/>
            <a:ext cx="5120640" cy="356616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65760" y="914400"/>
            <a:ext cx="2011680" cy="292608"/>
          </a:xfrm>
          <a:prstGeom prst="rect">
            <a:avLst/>
          </a:prstGeom>
          <a:solidFill>
            <a:srgbClr val="7B1E2C"/>
          </a:solidFill>
          <a:ln w="12700">
            <a:solidFill>
              <a:srgbClr val="7B1E2C"/>
            </a:solidFill>
            <a:prstDash val="solid"/>
          </a:ln>
          <a:effectLst>
            <a:outerShdw sx="100000" sy="100000" kx="0" ky="0" algn="bl" rotWithShape="0" blurRad="101600" dist="38100" dir="8100000">
              <a:srgbClr val="000000">
                <a:alpha val="25000"/>
              </a:srgbClr>
            </a:outerShdw>
          </a:effectLst>
        </p:spPr>
      </p:sp>
      <p:sp>
        <p:nvSpPr>
          <p:cNvPr id="7" name="Text 5"/>
          <p:cNvSpPr/>
          <p:nvPr/>
        </p:nvSpPr>
        <p:spPr>
          <a:xfrm>
            <a:off x="365760" y="914400"/>
            <a:ext cx="20116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PROBLEM</a:t>
            </a:r>
            <a:endParaRPr lang="en-US" sz="1000" dirty="0"/>
          </a:p>
        </p:txBody>
      </p:sp>
      <p:sp>
        <p:nvSpPr>
          <p:cNvPr id="8" name="Text 6"/>
          <p:cNvSpPr/>
          <p:nvPr/>
        </p:nvSpPr>
        <p:spPr>
          <a:xfrm>
            <a:off x="548640" y="1298448"/>
            <a:ext cx="4754880" cy="2926080"/>
          </a:xfrm>
          <a:prstGeom prst="rect">
            <a:avLst/>
          </a:prstGeom>
          <a:noFill/>
          <a:ln/>
        </p:spPr>
        <p:txBody>
          <a:bodyPr wrap="square" rtlCol="0" anchor="ctr"/>
          <a:lstStyle/>
          <a:p>
            <a:pPr marL="342900" indent="-342900">
              <a:spcAft>
                <a:spcPts val="600"/>
              </a:spcAft>
              <a:buSzPct val="100000"/>
              <a:buChar char="•"/>
            </a:pPr>
            <a:r>
              <a:rPr lang="en-US" sz="1300" dirty="0">
                <a:solidFill>
                  <a:srgbClr val="F0F4FA"/>
                </a:solidFill>
                <a:latin typeface="Calibri" pitchFamily="34" charset="0"/>
                <a:ea typeface="Calibri" pitchFamily="34" charset="-122"/>
                <a:cs typeface="Calibri" pitchFamily="34" charset="-120"/>
              </a:rPr>
              <a:t>Traditional certification relies on expert sensory panels</a:t>
            </a:r>
            <a:endParaRPr lang="en-US" sz="1300" dirty="0"/>
          </a:p>
          <a:p>
            <a:pPr marL="342900" indent="-342900">
              <a:spcAft>
                <a:spcPts val="600"/>
              </a:spcAft>
              <a:buSzPct val="100000"/>
              <a:buChar char="•"/>
            </a:pPr>
            <a:r>
              <a:rPr lang="en-US" sz="1300" dirty="0">
                <a:solidFill>
                  <a:srgbClr val="F0F4FA"/>
                </a:solidFill>
                <a:latin typeface="Calibri" pitchFamily="34" charset="0"/>
                <a:ea typeface="Calibri" pitchFamily="34" charset="-122"/>
                <a:cs typeface="Calibri" pitchFamily="34" charset="-120"/>
              </a:rPr>
              <a:t>Process is expensive, slow, and highly subjective</a:t>
            </a:r>
            <a:endParaRPr lang="en-US" sz="1300" dirty="0"/>
          </a:p>
          <a:p>
            <a:pPr marL="342900" indent="-342900">
              <a:spcAft>
                <a:spcPts val="600"/>
              </a:spcAft>
              <a:buSzPct val="100000"/>
              <a:buChar char="•"/>
            </a:pPr>
            <a:r>
              <a:rPr lang="en-US" sz="1300" dirty="0">
                <a:solidFill>
                  <a:srgbClr val="F0F4FA"/>
                </a:solidFill>
                <a:latin typeface="Calibri" pitchFamily="34" charset="0"/>
                <a:ea typeface="Calibri" pitchFamily="34" charset="-122"/>
                <a:cs typeface="Calibri" pitchFamily="34" charset="-120"/>
              </a:rPr>
              <a:t>Scores vary between panels — reproducibility is limited</a:t>
            </a:r>
            <a:endParaRPr lang="en-US" sz="1300" dirty="0"/>
          </a:p>
          <a:p>
            <a:pPr marL="342900" indent="-342900">
              <a:spcAft>
                <a:spcPts val="600"/>
              </a:spcAft>
              <a:buSzPct val="100000"/>
              <a:buChar char="•"/>
            </a:pPr>
            <a:r>
              <a:rPr lang="en-US" sz="1300" dirty="0">
                <a:solidFill>
                  <a:srgbClr val="F0F4FA"/>
                </a:solidFill>
                <a:latin typeface="Calibri" pitchFamily="34" charset="0"/>
                <a:ea typeface="Calibri" pitchFamily="34" charset="-122"/>
                <a:cs typeface="Calibri" pitchFamily="34" charset="-120"/>
              </a:rPr>
              <a:t>Physicochemical testing already happens during production</a:t>
            </a:r>
            <a:endParaRPr lang="en-US" sz="1300" dirty="0"/>
          </a:p>
          <a:p>
            <a:pPr marL="342900" indent="-342900">
              <a:spcAft>
                <a:spcPts val="600"/>
              </a:spcAft>
              <a:buSzPct val="100000"/>
              <a:buChar char="•"/>
            </a:pPr>
            <a:r>
              <a:rPr lang="en-US" sz="1300" dirty="0">
                <a:solidFill>
                  <a:srgbClr val="F0F4FA"/>
                </a:solidFill>
                <a:latin typeface="Calibri" pitchFamily="34" charset="0"/>
                <a:ea typeface="Calibri" pitchFamily="34" charset="-122"/>
                <a:cs typeface="Calibri" pitchFamily="34" charset="-120"/>
              </a:rPr>
              <a:t>Goal: predict expert ratings from measurable chemistry</a:t>
            </a:r>
            <a:endParaRPr lang="en-US" sz="1300" dirty="0"/>
          </a:p>
          <a:p>
            <a:pPr marL="342900" indent="-342900">
              <a:spcAft>
                <a:spcPts val="600"/>
              </a:spcAft>
              <a:buSzPct val="100000"/>
              <a:buChar char="•"/>
            </a:pPr>
            <a:r>
              <a:rPr lang="en-US" sz="1300" dirty="0">
                <a:solidFill>
                  <a:srgbClr val="F0F4FA"/>
                </a:solidFill>
                <a:latin typeface="Calibri" pitchFamily="34" charset="0"/>
                <a:ea typeface="Calibri" pitchFamily="34" charset="-122"/>
                <a:cs typeface="Calibri" pitchFamily="34" charset="-120"/>
              </a:rPr>
              <a:t>Practical impact: low-cost, objective quality gate for producers</a:t>
            </a:r>
            <a:endParaRPr lang="en-US" sz="1300" dirty="0"/>
          </a:p>
        </p:txBody>
      </p:sp>
      <p:sp>
        <p:nvSpPr>
          <p:cNvPr id="9" name="Shape 7"/>
          <p:cNvSpPr/>
          <p:nvPr/>
        </p:nvSpPr>
        <p:spPr>
          <a:xfrm>
            <a:off x="5669280" y="960120"/>
            <a:ext cx="3017520" cy="100584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10" name="Text 8"/>
          <p:cNvSpPr/>
          <p:nvPr/>
        </p:nvSpPr>
        <p:spPr>
          <a:xfrm>
            <a:off x="5669280" y="1014984"/>
            <a:ext cx="3017520" cy="502920"/>
          </a:xfrm>
          <a:prstGeom prst="rect">
            <a:avLst/>
          </a:prstGeom>
          <a:noFill/>
          <a:ln/>
        </p:spPr>
        <p:txBody>
          <a:bodyPr wrap="square" lIns="0" tIns="0" rIns="0" bIns="0" rtlCol="0" anchor="ctr"/>
          <a:lstStyle/>
          <a:p>
            <a:pPr algn="ctr" indent="0" marL="0">
              <a:buNone/>
            </a:pPr>
            <a:r>
              <a:rPr lang="en-US" sz="3200" b="1" dirty="0">
                <a:solidFill>
                  <a:srgbClr val="C9A84C"/>
                </a:solidFill>
                <a:latin typeface="Calibri" pitchFamily="34" charset="0"/>
                <a:ea typeface="Calibri" pitchFamily="34" charset="-122"/>
                <a:cs typeface="Calibri" pitchFamily="34" charset="-120"/>
              </a:rPr>
              <a:t>6,497</a:t>
            </a:r>
            <a:endParaRPr lang="en-US" sz="3200" dirty="0"/>
          </a:p>
        </p:txBody>
      </p:sp>
      <p:sp>
        <p:nvSpPr>
          <p:cNvPr id="11" name="Text 9"/>
          <p:cNvSpPr/>
          <p:nvPr/>
        </p:nvSpPr>
        <p:spPr>
          <a:xfrm>
            <a:off x="5669280" y="1527048"/>
            <a:ext cx="3017520" cy="347472"/>
          </a:xfrm>
          <a:prstGeom prst="rect">
            <a:avLst/>
          </a:prstGeom>
          <a:noFill/>
          <a:ln/>
        </p:spPr>
        <p:txBody>
          <a:bodyPr wrap="square" lIns="0" tIns="0" rIns="0" bIns="0" rtlCol="0" anchor="ctr"/>
          <a:lstStyle/>
          <a:p>
            <a:pPr algn="ctr" indent="0" marL="0">
              <a:buNone/>
            </a:pPr>
            <a:r>
              <a:rPr lang="en-US" sz="1100" dirty="0">
                <a:solidFill>
                  <a:srgbClr val="9BB0CC"/>
                </a:solidFill>
                <a:latin typeface="Calibri" pitchFamily="34" charset="0"/>
                <a:ea typeface="Calibri" pitchFamily="34" charset="-122"/>
                <a:cs typeface="Calibri" pitchFamily="34" charset="-120"/>
              </a:rPr>
              <a:t>Wine Samples</a:t>
            </a:r>
            <a:endParaRPr lang="en-US" sz="1100" dirty="0"/>
          </a:p>
        </p:txBody>
      </p:sp>
      <p:sp>
        <p:nvSpPr>
          <p:cNvPr id="12" name="Shape 10"/>
          <p:cNvSpPr/>
          <p:nvPr/>
        </p:nvSpPr>
        <p:spPr>
          <a:xfrm>
            <a:off x="5669280" y="2084832"/>
            <a:ext cx="3017520" cy="100584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13" name="Text 11"/>
          <p:cNvSpPr/>
          <p:nvPr/>
        </p:nvSpPr>
        <p:spPr>
          <a:xfrm>
            <a:off x="5669280" y="2139696"/>
            <a:ext cx="3017520" cy="502920"/>
          </a:xfrm>
          <a:prstGeom prst="rect">
            <a:avLst/>
          </a:prstGeom>
          <a:noFill/>
          <a:ln/>
        </p:spPr>
        <p:txBody>
          <a:bodyPr wrap="square" lIns="0" tIns="0" rIns="0" bIns="0" rtlCol="0" anchor="ctr"/>
          <a:lstStyle/>
          <a:p>
            <a:pPr algn="ctr" indent="0" marL="0">
              <a:buNone/>
            </a:pPr>
            <a:r>
              <a:rPr lang="en-US" sz="3200" b="1" dirty="0">
                <a:solidFill>
                  <a:srgbClr val="C9A84C"/>
                </a:solidFill>
                <a:latin typeface="Calibri" pitchFamily="34" charset="0"/>
                <a:ea typeface="Calibri" pitchFamily="34" charset="-122"/>
                <a:cs typeface="Calibri" pitchFamily="34" charset="-120"/>
              </a:rPr>
              <a:t>11</a:t>
            </a:r>
            <a:endParaRPr lang="en-US" sz="3200" dirty="0"/>
          </a:p>
        </p:txBody>
      </p:sp>
      <p:sp>
        <p:nvSpPr>
          <p:cNvPr id="14" name="Text 12"/>
          <p:cNvSpPr/>
          <p:nvPr/>
        </p:nvSpPr>
        <p:spPr>
          <a:xfrm>
            <a:off x="5669280" y="2651760"/>
            <a:ext cx="3017520" cy="347472"/>
          </a:xfrm>
          <a:prstGeom prst="rect">
            <a:avLst/>
          </a:prstGeom>
          <a:noFill/>
          <a:ln/>
        </p:spPr>
        <p:txBody>
          <a:bodyPr wrap="square" lIns="0" tIns="0" rIns="0" bIns="0" rtlCol="0" anchor="ctr"/>
          <a:lstStyle/>
          <a:p>
            <a:pPr algn="ctr" indent="0" marL="0">
              <a:buNone/>
            </a:pPr>
            <a:r>
              <a:rPr lang="en-US" sz="1100" dirty="0">
                <a:solidFill>
                  <a:srgbClr val="9BB0CC"/>
                </a:solidFill>
                <a:latin typeface="Calibri" pitchFamily="34" charset="0"/>
                <a:ea typeface="Calibri" pitchFamily="34" charset="-122"/>
                <a:cs typeface="Calibri" pitchFamily="34" charset="-120"/>
              </a:rPr>
              <a:t>Physicochemical</a:t>
            </a:r>
            <a:endParaRPr lang="en-US" sz="1100" dirty="0"/>
          </a:p>
          <a:p>
            <a:pPr algn="ctr" indent="0" marL="0">
              <a:buNone/>
            </a:pPr>
            <a:r>
              <a:rPr lang="en-US" sz="1100" dirty="0">
                <a:solidFill>
                  <a:srgbClr val="9BB0CC"/>
                </a:solidFill>
                <a:latin typeface="Calibri" pitchFamily="34" charset="0"/>
                <a:ea typeface="Calibri" pitchFamily="34" charset="-122"/>
                <a:cs typeface="Calibri" pitchFamily="34" charset="-120"/>
              </a:rPr>
              <a:t>Features</a:t>
            </a:r>
            <a:endParaRPr lang="en-US" sz="1100" dirty="0"/>
          </a:p>
        </p:txBody>
      </p:sp>
      <p:sp>
        <p:nvSpPr>
          <p:cNvPr id="15" name="Shape 13"/>
          <p:cNvSpPr/>
          <p:nvPr/>
        </p:nvSpPr>
        <p:spPr>
          <a:xfrm>
            <a:off x="5669280" y="3209544"/>
            <a:ext cx="3017520" cy="100584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16" name="Text 14"/>
          <p:cNvSpPr/>
          <p:nvPr/>
        </p:nvSpPr>
        <p:spPr>
          <a:xfrm>
            <a:off x="5669280" y="3264408"/>
            <a:ext cx="3017520" cy="502920"/>
          </a:xfrm>
          <a:prstGeom prst="rect">
            <a:avLst/>
          </a:prstGeom>
          <a:noFill/>
          <a:ln/>
        </p:spPr>
        <p:txBody>
          <a:bodyPr wrap="square" lIns="0" tIns="0" rIns="0" bIns="0" rtlCol="0" anchor="ctr"/>
          <a:lstStyle/>
          <a:p>
            <a:pPr algn="ctr" indent="0" marL="0">
              <a:buNone/>
            </a:pPr>
            <a:r>
              <a:rPr lang="en-US" sz="3200" b="1" dirty="0">
                <a:solidFill>
                  <a:srgbClr val="C9A84C"/>
                </a:solidFill>
                <a:latin typeface="Calibri" pitchFamily="34" charset="0"/>
                <a:ea typeface="Calibri" pitchFamily="34" charset="-122"/>
                <a:cs typeface="Calibri" pitchFamily="34" charset="-120"/>
              </a:rPr>
              <a:t>0</a:t>
            </a:r>
            <a:endParaRPr lang="en-US" sz="3200" dirty="0"/>
          </a:p>
        </p:txBody>
      </p:sp>
      <p:sp>
        <p:nvSpPr>
          <p:cNvPr id="17" name="Text 15"/>
          <p:cNvSpPr/>
          <p:nvPr/>
        </p:nvSpPr>
        <p:spPr>
          <a:xfrm>
            <a:off x="5669280" y="3776472"/>
            <a:ext cx="3017520" cy="347472"/>
          </a:xfrm>
          <a:prstGeom prst="rect">
            <a:avLst/>
          </a:prstGeom>
          <a:noFill/>
          <a:ln/>
        </p:spPr>
        <p:txBody>
          <a:bodyPr wrap="square" lIns="0" tIns="0" rIns="0" bIns="0" rtlCol="0" anchor="ctr"/>
          <a:lstStyle/>
          <a:p>
            <a:pPr algn="ctr" indent="0" marL="0">
              <a:buNone/>
            </a:pPr>
            <a:r>
              <a:rPr lang="en-US" sz="1100" dirty="0">
                <a:solidFill>
                  <a:srgbClr val="9BB0CC"/>
                </a:solidFill>
                <a:latin typeface="Calibri" pitchFamily="34" charset="0"/>
                <a:ea typeface="Calibri" pitchFamily="34" charset="-122"/>
                <a:cs typeface="Calibri" pitchFamily="34" charset="-120"/>
              </a:rPr>
              <a:t>Missing Values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7B1E2C"/>
          </a:solidFill>
          <a:ln w="12700">
            <a:solidFill>
              <a:srgbClr val="7B1E2C"/>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Problem Formulation</a:t>
            </a:r>
            <a:endParaRPr lang="en-US" sz="2400" dirty="0"/>
          </a:p>
        </p:txBody>
      </p:sp>
      <p:sp>
        <p:nvSpPr>
          <p:cNvPr id="4" name="Shape 2"/>
          <p:cNvSpPr/>
          <p:nvPr/>
        </p:nvSpPr>
        <p:spPr>
          <a:xfrm>
            <a:off x="457200" y="749808"/>
            <a:ext cx="1097280" cy="32004"/>
          </a:xfrm>
          <a:prstGeom prst="rect">
            <a:avLst/>
          </a:prstGeom>
          <a:solidFill>
            <a:srgbClr val="C9A84C"/>
          </a:solidFill>
          <a:ln w="12700">
            <a:solidFill>
              <a:srgbClr val="C9A84C"/>
            </a:solidFill>
            <a:prstDash val="solid"/>
          </a:ln>
        </p:spPr>
      </p:sp>
      <p:sp>
        <p:nvSpPr>
          <p:cNvPr id="5" name="Shape 3"/>
          <p:cNvSpPr/>
          <p:nvPr/>
        </p:nvSpPr>
        <p:spPr>
          <a:xfrm>
            <a:off x="320040" y="960120"/>
            <a:ext cx="4114800" cy="356616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20040" y="960120"/>
            <a:ext cx="2286000" cy="292608"/>
          </a:xfrm>
          <a:prstGeom prst="rect">
            <a:avLst/>
          </a:prstGeom>
          <a:solidFill>
            <a:srgbClr val="7B1E2C"/>
          </a:solidFill>
          <a:ln w="12700">
            <a:solidFill>
              <a:srgbClr val="7B1E2C"/>
            </a:solidFill>
            <a:prstDash val="solid"/>
          </a:ln>
          <a:effectLst>
            <a:outerShdw sx="100000" sy="100000" kx="0" ky="0" algn="bl" rotWithShape="0" blurRad="101600" dist="38100" dir="8100000">
              <a:srgbClr val="000000">
                <a:alpha val="25000"/>
              </a:srgbClr>
            </a:outerShdw>
          </a:effectLst>
        </p:spPr>
      </p:sp>
      <p:sp>
        <p:nvSpPr>
          <p:cNvPr id="7" name="Text 5"/>
          <p:cNvSpPr/>
          <p:nvPr/>
        </p:nvSpPr>
        <p:spPr>
          <a:xfrm>
            <a:off x="320040" y="960120"/>
            <a:ext cx="22860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TASK DEFINITION</a:t>
            </a:r>
            <a:endParaRPr lang="en-US" sz="1000" dirty="0"/>
          </a:p>
        </p:txBody>
      </p:sp>
      <p:sp>
        <p:nvSpPr>
          <p:cNvPr id="8" name="Text 6"/>
          <p:cNvSpPr/>
          <p:nvPr/>
        </p:nvSpPr>
        <p:spPr>
          <a:xfrm>
            <a:off x="502920" y="1353312"/>
            <a:ext cx="3749040" cy="3017520"/>
          </a:xfrm>
          <a:prstGeom prst="rect">
            <a:avLst/>
          </a:prstGeom>
          <a:noFill/>
          <a:ln/>
        </p:spPr>
        <p:txBody>
          <a:bodyPr wrap="square" rtlCol="0" anchor="ctr"/>
          <a:lstStyle/>
          <a:p>
            <a:pPr indent="0" marL="0">
              <a:spcAft>
                <a:spcPts val="800"/>
              </a:spcAft>
              <a:buNone/>
            </a:pPr>
            <a:r>
              <a:rPr lang="en-US" sz="1300" b="1" dirty="0">
                <a:solidFill>
                  <a:srgbClr val="C9A84C"/>
                </a:solidFill>
                <a:latin typeface="Calibri" pitchFamily="34" charset="0"/>
                <a:ea typeface="Calibri" pitchFamily="34" charset="-122"/>
                <a:cs typeface="Calibri" pitchFamily="34" charset="-120"/>
              </a:rPr>
              <a:t>Type:</a:t>
            </a:r>
            <a:pPr indent="0" marL="0">
              <a:spcAft>
                <a:spcPts val="800"/>
              </a:spcAft>
              <a:buNone/>
            </a:pPr>
            <a:r>
              <a:rPr lang="en-US" sz="1300" dirty="0">
                <a:solidFill>
                  <a:srgbClr val="F0F4FA"/>
                </a:solidFill>
                <a:latin typeface="Calibri" pitchFamily="34" charset="0"/>
                <a:ea typeface="Calibri" pitchFamily="34" charset="-122"/>
                <a:cs typeface="Calibri" pitchFamily="34" charset="-120"/>
              </a:rPr>
              <a:t>  Binary Classification</a:t>
            </a:r>
            <a:endParaRPr lang="en-US" sz="1300" dirty="0"/>
          </a:p>
          <a:p>
            <a:pPr indent="0" marL="0">
              <a:spcAft>
                <a:spcPts val="800"/>
              </a:spcAft>
              <a:buNone/>
            </a:pPr>
            <a:r>
              <a:rPr lang="en-US" sz="1300" b="1" dirty="0">
                <a:solidFill>
                  <a:srgbClr val="C9A84C"/>
                </a:solidFill>
                <a:latin typeface="Calibri" pitchFamily="34" charset="0"/>
                <a:ea typeface="Calibri" pitchFamily="34" charset="-122"/>
                <a:cs typeface="Calibri" pitchFamily="34" charset="-120"/>
              </a:rPr>
              <a:t>Input:</a:t>
            </a:r>
            <a:pPr indent="0" marL="0">
              <a:spcAft>
                <a:spcPts val="800"/>
              </a:spcAft>
              <a:buNone/>
            </a:pPr>
            <a:r>
              <a:rPr lang="en-US" sz="1300" dirty="0">
                <a:solidFill>
                  <a:srgbClr val="F0F4FA"/>
                </a:solidFill>
                <a:latin typeface="Calibri" pitchFamily="34" charset="0"/>
                <a:ea typeface="Calibri" pitchFamily="34" charset="-122"/>
                <a:cs typeface="Calibri" pitchFamily="34" charset="-120"/>
              </a:rPr>
              <a:t>  11 physicochemical</a:t>
            </a:r>
            <a:endParaRPr lang="en-US" sz="1300" dirty="0"/>
          </a:p>
          <a:p>
            <a:pPr indent="0" marL="0">
              <a:spcAft>
                <a:spcPts val="800"/>
              </a:spcAft>
              <a:buNone/>
            </a:pPr>
            <a:r>
              <a:rPr lang="en-US" sz="1300" dirty="0">
                <a:solidFill>
                  <a:srgbClr val="F0F4FA"/>
                </a:solidFill>
                <a:latin typeface="Calibri" pitchFamily="34" charset="0"/>
                <a:ea typeface="Calibri" pitchFamily="34" charset="-122"/>
                <a:cs typeface="Calibri" pitchFamily="34" charset="-120"/>
              </a:rPr>
              <a:t>measurements</a:t>
            </a:r>
            <a:endParaRPr lang="en-US" sz="1300" dirty="0"/>
          </a:p>
          <a:p>
            <a:pPr indent="0" marL="0">
              <a:spcAft>
                <a:spcPts val="800"/>
              </a:spcAft>
              <a:buNone/>
            </a:pPr>
            <a:r>
              <a:rPr lang="en-US" sz="1300" b="1" dirty="0">
                <a:solidFill>
                  <a:srgbClr val="C9A84C"/>
                </a:solidFill>
                <a:latin typeface="Calibri" pitchFamily="34" charset="0"/>
                <a:ea typeface="Calibri" pitchFamily="34" charset="-122"/>
                <a:cs typeface="Calibri" pitchFamily="34" charset="-120"/>
              </a:rPr>
              <a:t>Target:</a:t>
            </a:r>
            <a:pPr indent="0" marL="0">
              <a:spcAft>
                <a:spcPts val="800"/>
              </a:spcAft>
              <a:buNone/>
            </a:pPr>
            <a:r>
              <a:rPr lang="en-US" sz="1300" dirty="0">
                <a:solidFill>
                  <a:srgbClr val="F0F4FA"/>
                </a:solidFill>
                <a:latin typeface="Calibri" pitchFamily="34" charset="0"/>
                <a:ea typeface="Calibri" pitchFamily="34" charset="-122"/>
                <a:cs typeface="Calibri" pitchFamily="34" charset="-120"/>
              </a:rPr>
              <a:t>  High Quality (≥6)</a:t>
            </a:r>
            <a:endParaRPr lang="en-US" sz="1300" dirty="0"/>
          </a:p>
          <a:p>
            <a:pPr indent="0" marL="0">
              <a:spcAft>
                <a:spcPts val="800"/>
              </a:spcAft>
              <a:buNone/>
            </a:pPr>
            <a:r>
              <a:rPr lang="en-US" sz="1300" dirty="0">
                <a:solidFill>
                  <a:srgbClr val="F0F4FA"/>
                </a:solidFill>
                <a:latin typeface="Calibri" pitchFamily="34" charset="0"/>
                <a:ea typeface="Calibri" pitchFamily="34" charset="-122"/>
                <a:cs typeface="Calibri" pitchFamily="34" charset="-120"/>
              </a:rPr>
              <a:t>vs Low Quality (&lt;6)</a:t>
            </a:r>
            <a:endParaRPr lang="en-US" sz="1300" dirty="0"/>
          </a:p>
          <a:p>
            <a:pPr indent="0" marL="0">
              <a:spcAft>
                <a:spcPts val="800"/>
              </a:spcAft>
              <a:buNone/>
            </a:pPr>
            <a:r>
              <a:rPr lang="en-US" sz="1300" b="1" dirty="0">
                <a:solidFill>
                  <a:srgbClr val="C9A84C"/>
                </a:solidFill>
                <a:latin typeface="Calibri" pitchFamily="34" charset="0"/>
                <a:ea typeface="Calibri" pitchFamily="34" charset="-122"/>
                <a:cs typeface="Calibri" pitchFamily="34" charset="-120"/>
              </a:rPr>
              <a:t>Threshold:</a:t>
            </a:r>
            <a:pPr indent="0" marL="0">
              <a:spcAft>
                <a:spcPts val="800"/>
              </a:spcAft>
              <a:buNone/>
            </a:pPr>
            <a:r>
              <a:rPr lang="en-US" sz="1300" dirty="0">
                <a:solidFill>
                  <a:srgbClr val="F0F4FA"/>
                </a:solidFill>
                <a:latin typeface="Calibri" pitchFamily="34" charset="0"/>
                <a:ea typeface="Calibri" pitchFamily="34" charset="-122"/>
                <a:cs typeface="Calibri" pitchFamily="34" charset="-120"/>
              </a:rPr>
              <a:t>  Score of 6 = industry</a:t>
            </a:r>
            <a:endParaRPr lang="en-US" sz="1300" dirty="0"/>
          </a:p>
          <a:p>
            <a:pPr indent="0" marL="0">
              <a:spcAft>
                <a:spcPts val="800"/>
              </a:spcAft>
              <a:buNone/>
            </a:pPr>
            <a:r>
              <a:rPr lang="en-US" sz="1300" dirty="0">
                <a:solidFill>
                  <a:srgbClr val="F0F4FA"/>
                </a:solidFill>
                <a:latin typeface="Calibri" pitchFamily="34" charset="0"/>
                <a:ea typeface="Calibri" pitchFamily="34" charset="-122"/>
                <a:cs typeface="Calibri" pitchFamily="34" charset="-120"/>
              </a:rPr>
              <a:t>pass/fail convention</a:t>
            </a:r>
            <a:endParaRPr lang="en-US" sz="1300" dirty="0"/>
          </a:p>
        </p:txBody>
      </p:sp>
      <p:sp>
        <p:nvSpPr>
          <p:cNvPr id="9" name="Shape 7"/>
          <p:cNvSpPr/>
          <p:nvPr/>
        </p:nvSpPr>
        <p:spPr>
          <a:xfrm>
            <a:off x="4709160" y="960120"/>
            <a:ext cx="4114800" cy="356616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4709160" y="960120"/>
            <a:ext cx="2560320" cy="292608"/>
          </a:xfrm>
          <a:prstGeom prst="rect">
            <a:avLst/>
          </a:prstGeom>
          <a:solidFill>
            <a:srgbClr val="7B1E2C"/>
          </a:solidFill>
          <a:ln w="12700">
            <a:solidFill>
              <a:srgbClr val="7B1E2C"/>
            </a:solidFill>
            <a:prstDash val="solid"/>
          </a:ln>
          <a:effectLst>
            <a:outerShdw sx="100000" sy="100000" kx="0" ky="0" algn="bl" rotWithShape="0" blurRad="101600" dist="38100" dir="8100000">
              <a:srgbClr val="000000">
                <a:alpha val="25000"/>
              </a:srgbClr>
            </a:outerShdw>
          </a:effectLst>
        </p:spPr>
      </p:sp>
      <p:sp>
        <p:nvSpPr>
          <p:cNvPr id="11" name="Text 9"/>
          <p:cNvSpPr/>
          <p:nvPr/>
        </p:nvSpPr>
        <p:spPr>
          <a:xfrm>
            <a:off x="4709160" y="960120"/>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CLASS DISTRIBUTION</a:t>
            </a:r>
            <a:endParaRPr lang="en-US" sz="1000" dirty="0"/>
          </a:p>
        </p:txBody>
      </p:sp>
      <p:sp>
        <p:nvSpPr>
          <p:cNvPr id="12" name="Shape 10"/>
          <p:cNvSpPr/>
          <p:nvPr/>
        </p:nvSpPr>
        <p:spPr>
          <a:xfrm>
            <a:off x="5257800" y="2594336"/>
            <a:ext cx="1188720" cy="926104"/>
          </a:xfrm>
          <a:prstGeom prst="rect">
            <a:avLst/>
          </a:prstGeom>
          <a:solidFill>
            <a:srgbClr val="C9A84C"/>
          </a:solidFill>
          <a:ln w="12700">
            <a:solidFill>
              <a:srgbClr val="C9A84C"/>
            </a:solidFill>
            <a:prstDash val="solid"/>
          </a:ln>
        </p:spPr>
      </p:sp>
      <p:sp>
        <p:nvSpPr>
          <p:cNvPr id="13" name="Text 11"/>
          <p:cNvSpPr/>
          <p:nvPr/>
        </p:nvSpPr>
        <p:spPr>
          <a:xfrm>
            <a:off x="5257800" y="2274296"/>
            <a:ext cx="1188720" cy="292608"/>
          </a:xfrm>
          <a:prstGeom prst="rect">
            <a:avLst/>
          </a:prstGeom>
          <a:noFill/>
          <a:ln/>
        </p:spPr>
        <p:txBody>
          <a:bodyPr wrap="square" lIns="0" tIns="0" rIns="0" bIns="0" rtlCol="0" anchor="ctr"/>
          <a:lstStyle/>
          <a:p>
            <a:pPr algn="ctr" indent="0" marL="0">
              <a:buNone/>
            </a:pPr>
            <a:r>
              <a:rPr lang="en-US" sz="1800" b="1" dirty="0">
                <a:solidFill>
                  <a:srgbClr val="C9A84C"/>
                </a:solidFill>
                <a:latin typeface="Calibri" pitchFamily="34" charset="0"/>
                <a:ea typeface="Calibri" pitchFamily="34" charset="-122"/>
                <a:cs typeface="Calibri" pitchFamily="34" charset="-120"/>
              </a:rPr>
              <a:t>63.3%</a:t>
            </a:r>
            <a:endParaRPr lang="en-US" sz="1800" dirty="0"/>
          </a:p>
        </p:txBody>
      </p:sp>
      <p:sp>
        <p:nvSpPr>
          <p:cNvPr id="14" name="Text 12"/>
          <p:cNvSpPr/>
          <p:nvPr/>
        </p:nvSpPr>
        <p:spPr>
          <a:xfrm>
            <a:off x="5257800" y="3566160"/>
            <a:ext cx="1188720" cy="548640"/>
          </a:xfrm>
          <a:prstGeom prst="rect">
            <a:avLst/>
          </a:prstGeom>
          <a:noFill/>
          <a:ln/>
        </p:spPr>
        <p:txBody>
          <a:bodyPr wrap="square" lIns="0" tIns="0" rIns="0" bIns="0" rtlCol="0" anchor="ctr"/>
          <a:lstStyle/>
          <a:p>
            <a:pPr algn="ctr" indent="0" marL="0">
              <a:buNone/>
            </a:pPr>
            <a:r>
              <a:rPr lang="en-US" sz="1000" dirty="0">
                <a:solidFill>
                  <a:srgbClr val="9BB0CC"/>
                </a:solidFill>
                <a:latin typeface="Calibri" pitchFamily="34" charset="0"/>
                <a:ea typeface="Calibri" pitchFamily="34" charset="-122"/>
                <a:cs typeface="Calibri" pitchFamily="34" charset="-120"/>
              </a:rPr>
              <a:t>High Quality</a:t>
            </a:r>
            <a:endParaRPr lang="en-US" sz="1000" dirty="0"/>
          </a:p>
          <a:p>
            <a:pPr algn="ctr" indent="0" marL="0">
              <a:buNone/>
            </a:pPr>
            <a:r>
              <a:rPr lang="en-US" sz="1000" dirty="0">
                <a:solidFill>
                  <a:srgbClr val="9BB0CC"/>
                </a:solidFill>
                <a:latin typeface="Calibri" pitchFamily="34" charset="0"/>
                <a:ea typeface="Calibri" pitchFamily="34" charset="-122"/>
                <a:cs typeface="Calibri" pitchFamily="34" charset="-120"/>
              </a:rPr>
              <a:t>(score ≥ 6)</a:t>
            </a:r>
            <a:endParaRPr lang="en-US" sz="1000" dirty="0"/>
          </a:p>
        </p:txBody>
      </p:sp>
      <p:sp>
        <p:nvSpPr>
          <p:cNvPr id="15" name="Shape 13"/>
          <p:cNvSpPr/>
          <p:nvPr/>
        </p:nvSpPr>
        <p:spPr>
          <a:xfrm>
            <a:off x="6995160" y="2983504"/>
            <a:ext cx="1188720" cy="536936"/>
          </a:xfrm>
          <a:prstGeom prst="rect">
            <a:avLst/>
          </a:prstGeom>
          <a:solidFill>
            <a:srgbClr val="7B1E2C"/>
          </a:solidFill>
          <a:ln w="12700">
            <a:solidFill>
              <a:srgbClr val="7B1E2C"/>
            </a:solidFill>
            <a:prstDash val="solid"/>
          </a:ln>
        </p:spPr>
      </p:sp>
      <p:sp>
        <p:nvSpPr>
          <p:cNvPr id="16" name="Text 14"/>
          <p:cNvSpPr/>
          <p:nvPr/>
        </p:nvSpPr>
        <p:spPr>
          <a:xfrm>
            <a:off x="6995160" y="2663464"/>
            <a:ext cx="1188720" cy="292608"/>
          </a:xfrm>
          <a:prstGeom prst="rect">
            <a:avLst/>
          </a:prstGeom>
          <a:noFill/>
          <a:ln/>
        </p:spPr>
        <p:txBody>
          <a:bodyPr wrap="square" lIns="0" tIns="0" rIns="0" bIns="0" rtlCol="0" anchor="ctr"/>
          <a:lstStyle/>
          <a:p>
            <a:pPr algn="ctr" indent="0" marL="0">
              <a:buNone/>
            </a:pPr>
            <a:r>
              <a:rPr lang="en-US" sz="1800" b="1" dirty="0">
                <a:solidFill>
                  <a:srgbClr val="7B1E2C"/>
                </a:solidFill>
                <a:latin typeface="Calibri" pitchFamily="34" charset="0"/>
                <a:ea typeface="Calibri" pitchFamily="34" charset="-122"/>
                <a:cs typeface="Calibri" pitchFamily="34" charset="-120"/>
              </a:rPr>
              <a:t>36.7%</a:t>
            </a:r>
            <a:endParaRPr lang="en-US" sz="1800" dirty="0"/>
          </a:p>
        </p:txBody>
      </p:sp>
      <p:sp>
        <p:nvSpPr>
          <p:cNvPr id="17" name="Text 15"/>
          <p:cNvSpPr/>
          <p:nvPr/>
        </p:nvSpPr>
        <p:spPr>
          <a:xfrm>
            <a:off x="6995160" y="3566160"/>
            <a:ext cx="1188720" cy="548640"/>
          </a:xfrm>
          <a:prstGeom prst="rect">
            <a:avLst/>
          </a:prstGeom>
          <a:noFill/>
          <a:ln/>
        </p:spPr>
        <p:txBody>
          <a:bodyPr wrap="square" lIns="0" tIns="0" rIns="0" bIns="0" rtlCol="0" anchor="ctr"/>
          <a:lstStyle/>
          <a:p>
            <a:pPr algn="ctr" indent="0" marL="0">
              <a:buNone/>
            </a:pPr>
            <a:r>
              <a:rPr lang="en-US" sz="1000" dirty="0">
                <a:solidFill>
                  <a:srgbClr val="9BB0CC"/>
                </a:solidFill>
                <a:latin typeface="Calibri" pitchFamily="34" charset="0"/>
                <a:ea typeface="Calibri" pitchFamily="34" charset="-122"/>
                <a:cs typeface="Calibri" pitchFamily="34" charset="-120"/>
              </a:rPr>
              <a:t>Low Quality</a:t>
            </a:r>
            <a:endParaRPr lang="en-US" sz="1000" dirty="0"/>
          </a:p>
          <a:p>
            <a:pPr algn="ctr" indent="0" marL="0">
              <a:buNone/>
            </a:pPr>
            <a:r>
              <a:rPr lang="en-US" sz="1000" dirty="0">
                <a:solidFill>
                  <a:srgbClr val="9BB0CC"/>
                </a:solidFill>
                <a:latin typeface="Calibri" pitchFamily="34" charset="0"/>
                <a:ea typeface="Calibri" pitchFamily="34" charset="-122"/>
                <a:cs typeface="Calibri" pitchFamily="34" charset="-120"/>
              </a:rPr>
              <a:t>(score &lt; 6)</a:t>
            </a:r>
            <a:endParaRPr lang="en-US" sz="1000" dirty="0"/>
          </a:p>
        </p:txBody>
      </p:sp>
      <p:sp>
        <p:nvSpPr>
          <p:cNvPr id="18" name="Text 16"/>
          <p:cNvSpPr/>
          <p:nvPr/>
        </p:nvSpPr>
        <p:spPr>
          <a:xfrm>
            <a:off x="4754880" y="4224528"/>
            <a:ext cx="3931920" cy="365760"/>
          </a:xfrm>
          <a:prstGeom prst="rect">
            <a:avLst/>
          </a:prstGeom>
          <a:noFill/>
          <a:ln/>
        </p:spPr>
        <p:txBody>
          <a:bodyPr wrap="square" lIns="0" tIns="0" rIns="0" bIns="0" rtlCol="0" anchor="ctr"/>
          <a:lstStyle/>
          <a:p>
            <a:pPr algn="ctr" indent="0" marL="0">
              <a:buNone/>
            </a:pPr>
            <a:r>
              <a:rPr lang="en-US" sz="1000" i="1" dirty="0">
                <a:solidFill>
                  <a:srgbClr val="9BB0CC"/>
                </a:solidFill>
                <a:latin typeface="Calibri" pitchFamily="34" charset="0"/>
                <a:ea typeface="Calibri" pitchFamily="34" charset="-122"/>
                <a:cs typeface="Calibri" pitchFamily="34" charset="-120"/>
              </a:rPr>
              <a:t>Mild imbalance — class_weight='balanced'</a:t>
            </a:r>
            <a:endParaRPr lang="en-US" sz="1000" dirty="0"/>
          </a:p>
          <a:p>
            <a:pPr algn="ctr" indent="0" marL="0">
              <a:buNone/>
            </a:pPr>
            <a:r>
              <a:rPr lang="en-US" sz="1000" i="1" dirty="0">
                <a:solidFill>
                  <a:srgbClr val="9BB0CC"/>
                </a:solidFill>
                <a:latin typeface="Calibri" pitchFamily="34" charset="0"/>
                <a:ea typeface="Calibri" pitchFamily="34" charset="-122"/>
                <a:cs typeface="Calibri" pitchFamily="34" charset="-120"/>
              </a:rPr>
              <a:t>tuned for LR &amp; SVM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7B1E2C"/>
          </a:solidFill>
          <a:ln w="12700">
            <a:solidFill>
              <a:srgbClr val="7B1E2C"/>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Dataset, EDA &amp; VIF Multicollinearity Check</a:t>
            </a:r>
            <a:endParaRPr lang="en-US" sz="2400" dirty="0"/>
          </a:p>
        </p:txBody>
      </p:sp>
      <p:sp>
        <p:nvSpPr>
          <p:cNvPr id="4" name="Shape 2"/>
          <p:cNvSpPr/>
          <p:nvPr/>
        </p:nvSpPr>
        <p:spPr>
          <a:xfrm>
            <a:off x="457200" y="749808"/>
            <a:ext cx="1097280" cy="32004"/>
          </a:xfrm>
          <a:prstGeom prst="rect">
            <a:avLst/>
          </a:prstGeom>
          <a:solidFill>
            <a:srgbClr val="C9A84C"/>
          </a:solidFill>
          <a:ln w="12700">
            <a:solidFill>
              <a:srgbClr val="C9A84C"/>
            </a:solidFill>
            <a:prstDash val="solid"/>
          </a:ln>
        </p:spPr>
      </p:sp>
      <p:sp>
        <p:nvSpPr>
          <p:cNvPr id="5" name="Shape 3"/>
          <p:cNvSpPr/>
          <p:nvPr/>
        </p:nvSpPr>
        <p:spPr>
          <a:xfrm>
            <a:off x="320040" y="960120"/>
            <a:ext cx="2651760" cy="105156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6" name="Text 4"/>
          <p:cNvSpPr/>
          <p:nvPr/>
        </p:nvSpPr>
        <p:spPr>
          <a:xfrm>
            <a:off x="320040" y="1051560"/>
            <a:ext cx="2651760" cy="457200"/>
          </a:xfrm>
          <a:prstGeom prst="rect">
            <a:avLst/>
          </a:prstGeom>
          <a:noFill/>
          <a:ln/>
        </p:spPr>
        <p:txBody>
          <a:bodyPr wrap="square" lIns="0" tIns="0" rIns="0" bIns="0" rtlCol="0" anchor="ctr"/>
          <a:lstStyle/>
          <a:p>
            <a:pPr algn="ctr" indent="0" marL="0">
              <a:buNone/>
            </a:pPr>
            <a:r>
              <a:rPr lang="en-US" sz="2400" b="1" dirty="0">
                <a:solidFill>
                  <a:srgbClr val="C9A84C"/>
                </a:solidFill>
                <a:latin typeface="Calibri" pitchFamily="34" charset="0"/>
                <a:ea typeface="Calibri" pitchFamily="34" charset="-122"/>
                <a:cs typeface="Calibri" pitchFamily="34" charset="-120"/>
              </a:rPr>
              <a:t>r = +0.44</a:t>
            </a:r>
            <a:endParaRPr lang="en-US" sz="2400" dirty="0"/>
          </a:p>
        </p:txBody>
      </p:sp>
      <p:sp>
        <p:nvSpPr>
          <p:cNvPr id="7" name="Text 5"/>
          <p:cNvSpPr/>
          <p:nvPr/>
        </p:nvSpPr>
        <p:spPr>
          <a:xfrm>
            <a:off x="320040" y="1527048"/>
            <a:ext cx="2651760" cy="438912"/>
          </a:xfrm>
          <a:prstGeom prst="rect">
            <a:avLst/>
          </a:prstGeom>
          <a:noFill/>
          <a:ln/>
        </p:spPr>
        <p:txBody>
          <a:bodyPr wrap="square" lIns="0" tIns="0" rIns="0" bIns="0" rtlCol="0" anchor="ctr"/>
          <a:lstStyle/>
          <a:p>
            <a:pPr algn="ctr" indent="0" marL="0">
              <a:buNone/>
            </a:pPr>
            <a:r>
              <a:rPr lang="en-US" sz="1000" dirty="0">
                <a:solidFill>
                  <a:srgbClr val="9BB0CC"/>
                </a:solidFill>
                <a:latin typeface="Calibri" pitchFamily="34" charset="0"/>
                <a:ea typeface="Calibri" pitchFamily="34" charset="-122"/>
                <a:cs typeface="Calibri" pitchFamily="34" charset="-120"/>
              </a:rPr>
              <a:t>Alcohol</a:t>
            </a:r>
            <a:endParaRPr lang="en-US" sz="1000" dirty="0"/>
          </a:p>
          <a:p>
            <a:pPr algn="ctr" indent="0" marL="0">
              <a:buNone/>
            </a:pPr>
            <a:r>
              <a:rPr lang="en-US" sz="1000" dirty="0">
                <a:solidFill>
                  <a:srgbClr val="9BB0CC"/>
                </a:solidFill>
                <a:latin typeface="Calibri" pitchFamily="34" charset="0"/>
                <a:ea typeface="Calibri" pitchFamily="34" charset="-122"/>
                <a:cs typeface="Calibri" pitchFamily="34" charset="-120"/>
              </a:rPr>
              <a:t>(top positive predictor)</a:t>
            </a:r>
            <a:endParaRPr lang="en-US" sz="1000" dirty="0"/>
          </a:p>
        </p:txBody>
      </p:sp>
      <p:sp>
        <p:nvSpPr>
          <p:cNvPr id="8" name="Shape 6"/>
          <p:cNvSpPr/>
          <p:nvPr/>
        </p:nvSpPr>
        <p:spPr>
          <a:xfrm>
            <a:off x="3154680" y="960120"/>
            <a:ext cx="2651760" cy="105156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9" name="Text 7"/>
          <p:cNvSpPr/>
          <p:nvPr/>
        </p:nvSpPr>
        <p:spPr>
          <a:xfrm>
            <a:off x="3154680" y="1051560"/>
            <a:ext cx="2651760" cy="457200"/>
          </a:xfrm>
          <a:prstGeom prst="rect">
            <a:avLst/>
          </a:prstGeom>
          <a:noFill/>
          <a:ln/>
        </p:spPr>
        <p:txBody>
          <a:bodyPr wrap="square" lIns="0" tIns="0" rIns="0" bIns="0" rtlCol="0" anchor="ctr"/>
          <a:lstStyle/>
          <a:p>
            <a:pPr algn="ctr" indent="0" marL="0">
              <a:buNone/>
            </a:pPr>
            <a:r>
              <a:rPr lang="en-US" sz="2400" b="1" dirty="0">
                <a:solidFill>
                  <a:srgbClr val="A83246"/>
                </a:solidFill>
                <a:latin typeface="Calibri" pitchFamily="34" charset="0"/>
                <a:ea typeface="Calibri" pitchFamily="34" charset="-122"/>
                <a:cs typeface="Calibri" pitchFamily="34" charset="-120"/>
              </a:rPr>
              <a:t>r = −0.27</a:t>
            </a:r>
            <a:endParaRPr lang="en-US" sz="2400" dirty="0"/>
          </a:p>
        </p:txBody>
      </p:sp>
      <p:sp>
        <p:nvSpPr>
          <p:cNvPr id="10" name="Text 8"/>
          <p:cNvSpPr/>
          <p:nvPr/>
        </p:nvSpPr>
        <p:spPr>
          <a:xfrm>
            <a:off x="3154680" y="1527048"/>
            <a:ext cx="2651760" cy="438912"/>
          </a:xfrm>
          <a:prstGeom prst="rect">
            <a:avLst/>
          </a:prstGeom>
          <a:noFill/>
          <a:ln/>
        </p:spPr>
        <p:txBody>
          <a:bodyPr wrap="square" lIns="0" tIns="0" rIns="0" bIns="0" rtlCol="0" anchor="ctr"/>
          <a:lstStyle/>
          <a:p>
            <a:pPr algn="ctr" indent="0" marL="0">
              <a:buNone/>
            </a:pPr>
            <a:r>
              <a:rPr lang="en-US" sz="1000" dirty="0">
                <a:solidFill>
                  <a:srgbClr val="9BB0CC"/>
                </a:solidFill>
                <a:latin typeface="Calibri" pitchFamily="34" charset="0"/>
                <a:ea typeface="Calibri" pitchFamily="34" charset="-122"/>
                <a:cs typeface="Calibri" pitchFamily="34" charset="-120"/>
              </a:rPr>
              <a:t>Volatile Acidity</a:t>
            </a:r>
            <a:endParaRPr lang="en-US" sz="1000" dirty="0"/>
          </a:p>
          <a:p>
            <a:pPr algn="ctr" indent="0" marL="0">
              <a:buNone/>
            </a:pPr>
            <a:r>
              <a:rPr lang="en-US" sz="1000" dirty="0">
                <a:solidFill>
                  <a:srgbClr val="9BB0CC"/>
                </a:solidFill>
                <a:latin typeface="Calibri" pitchFamily="34" charset="0"/>
                <a:ea typeface="Calibri" pitchFamily="34" charset="-122"/>
                <a:cs typeface="Calibri" pitchFamily="34" charset="-120"/>
              </a:rPr>
              <a:t>(top negative)</a:t>
            </a:r>
            <a:endParaRPr lang="en-US" sz="1000" dirty="0"/>
          </a:p>
        </p:txBody>
      </p:sp>
      <p:sp>
        <p:nvSpPr>
          <p:cNvPr id="11" name="Shape 9"/>
          <p:cNvSpPr/>
          <p:nvPr/>
        </p:nvSpPr>
        <p:spPr>
          <a:xfrm>
            <a:off x="5989320" y="960120"/>
            <a:ext cx="2651760" cy="105156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12" name="Text 10"/>
          <p:cNvSpPr/>
          <p:nvPr/>
        </p:nvSpPr>
        <p:spPr>
          <a:xfrm>
            <a:off x="5989320" y="1051560"/>
            <a:ext cx="2651760" cy="457200"/>
          </a:xfrm>
          <a:prstGeom prst="rect">
            <a:avLst/>
          </a:prstGeom>
          <a:noFill/>
          <a:ln/>
        </p:spPr>
        <p:txBody>
          <a:bodyPr wrap="square" lIns="0" tIns="0" rIns="0" bIns="0" rtlCol="0" anchor="ctr"/>
          <a:lstStyle/>
          <a:p>
            <a:pPr algn="ctr" indent="0" marL="0">
              <a:buNone/>
            </a:pPr>
            <a:r>
              <a:rPr lang="en-US" sz="2400" b="1" dirty="0">
                <a:solidFill>
                  <a:srgbClr val="9BB0CC"/>
                </a:solidFill>
                <a:latin typeface="Calibri" pitchFamily="34" charset="0"/>
                <a:ea typeface="Calibri" pitchFamily="34" charset="-122"/>
                <a:cs typeface="Calibri" pitchFamily="34" charset="-120"/>
              </a:rPr>
              <a:t>VIF=15.3</a:t>
            </a:r>
            <a:endParaRPr lang="en-US" sz="2400" dirty="0"/>
          </a:p>
        </p:txBody>
      </p:sp>
      <p:sp>
        <p:nvSpPr>
          <p:cNvPr id="13" name="Text 11"/>
          <p:cNvSpPr/>
          <p:nvPr/>
        </p:nvSpPr>
        <p:spPr>
          <a:xfrm>
            <a:off x="5989320" y="1527048"/>
            <a:ext cx="2651760" cy="438912"/>
          </a:xfrm>
          <a:prstGeom prst="rect">
            <a:avLst/>
          </a:prstGeom>
          <a:noFill/>
          <a:ln/>
        </p:spPr>
        <p:txBody>
          <a:bodyPr wrap="square" lIns="0" tIns="0" rIns="0" bIns="0" rtlCol="0" anchor="ctr"/>
          <a:lstStyle/>
          <a:p>
            <a:pPr algn="ctr" indent="0" marL="0">
              <a:buNone/>
            </a:pPr>
            <a:r>
              <a:rPr lang="en-US" sz="1000" dirty="0">
                <a:solidFill>
                  <a:srgbClr val="9BB0CC"/>
                </a:solidFill>
                <a:latin typeface="Calibri" pitchFamily="34" charset="0"/>
                <a:ea typeface="Calibri" pitchFamily="34" charset="-122"/>
                <a:cs typeface="Calibri" pitchFamily="34" charset="-120"/>
              </a:rPr>
              <a:t>Density</a:t>
            </a:r>
            <a:endParaRPr lang="en-US" sz="1000" dirty="0"/>
          </a:p>
          <a:p>
            <a:pPr algn="ctr" indent="0" marL="0">
              <a:buNone/>
            </a:pPr>
            <a:r>
              <a:rPr lang="en-US" sz="1000" dirty="0">
                <a:solidFill>
                  <a:srgbClr val="9BB0CC"/>
                </a:solidFill>
                <a:latin typeface="Calibri" pitchFamily="34" charset="0"/>
                <a:ea typeface="Calibri" pitchFamily="34" charset="-122"/>
                <a:cs typeface="Calibri" pitchFamily="34" charset="-120"/>
              </a:rPr>
              <a:t>(multicollinear ⚠️)</a:t>
            </a:r>
            <a:endParaRPr lang="en-US" sz="1000" dirty="0"/>
          </a:p>
        </p:txBody>
      </p:sp>
      <p:sp>
        <p:nvSpPr>
          <p:cNvPr id="14" name="Shape 12"/>
          <p:cNvSpPr/>
          <p:nvPr/>
        </p:nvSpPr>
        <p:spPr>
          <a:xfrm>
            <a:off x="320040" y="2148840"/>
            <a:ext cx="2651760" cy="105156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15" name="Text 13"/>
          <p:cNvSpPr/>
          <p:nvPr/>
        </p:nvSpPr>
        <p:spPr>
          <a:xfrm>
            <a:off x="320040" y="2240280"/>
            <a:ext cx="2651760" cy="457200"/>
          </a:xfrm>
          <a:prstGeom prst="rect">
            <a:avLst/>
          </a:prstGeom>
          <a:noFill/>
          <a:ln/>
        </p:spPr>
        <p:txBody>
          <a:bodyPr wrap="square" lIns="0" tIns="0" rIns="0" bIns="0" rtlCol="0" anchor="ctr"/>
          <a:lstStyle/>
          <a:p>
            <a:pPr algn="ctr" indent="0" marL="0">
              <a:buNone/>
            </a:pPr>
            <a:r>
              <a:rPr lang="en-US" sz="2400" b="1" dirty="0">
                <a:solidFill>
                  <a:srgbClr val="A83246"/>
                </a:solidFill>
                <a:latin typeface="Calibri" pitchFamily="34" charset="0"/>
                <a:ea typeface="Calibri" pitchFamily="34" charset="-122"/>
                <a:cs typeface="Calibri" pitchFamily="34" charset="-120"/>
              </a:rPr>
              <a:t>1,599</a:t>
            </a:r>
            <a:endParaRPr lang="en-US" sz="2400" dirty="0"/>
          </a:p>
        </p:txBody>
      </p:sp>
      <p:sp>
        <p:nvSpPr>
          <p:cNvPr id="16" name="Text 14"/>
          <p:cNvSpPr/>
          <p:nvPr/>
        </p:nvSpPr>
        <p:spPr>
          <a:xfrm>
            <a:off x="320040" y="2715768"/>
            <a:ext cx="2651760" cy="438912"/>
          </a:xfrm>
          <a:prstGeom prst="rect">
            <a:avLst/>
          </a:prstGeom>
          <a:noFill/>
          <a:ln/>
        </p:spPr>
        <p:txBody>
          <a:bodyPr wrap="square" lIns="0" tIns="0" rIns="0" bIns="0" rtlCol="0" anchor="ctr"/>
          <a:lstStyle/>
          <a:p>
            <a:pPr algn="ctr" indent="0" marL="0">
              <a:buNone/>
            </a:pPr>
            <a:r>
              <a:rPr lang="en-US" sz="1000" dirty="0">
                <a:solidFill>
                  <a:srgbClr val="9BB0CC"/>
                </a:solidFill>
                <a:latin typeface="Calibri" pitchFamily="34" charset="0"/>
                <a:ea typeface="Calibri" pitchFamily="34" charset="-122"/>
                <a:cs typeface="Calibri" pitchFamily="34" charset="-120"/>
              </a:rPr>
              <a:t>Red wine samples</a:t>
            </a:r>
            <a:endParaRPr lang="en-US" sz="1000" dirty="0"/>
          </a:p>
        </p:txBody>
      </p:sp>
      <p:sp>
        <p:nvSpPr>
          <p:cNvPr id="17" name="Shape 15"/>
          <p:cNvSpPr/>
          <p:nvPr/>
        </p:nvSpPr>
        <p:spPr>
          <a:xfrm>
            <a:off x="3154680" y="2148840"/>
            <a:ext cx="2651760" cy="105156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18" name="Text 16"/>
          <p:cNvSpPr/>
          <p:nvPr/>
        </p:nvSpPr>
        <p:spPr>
          <a:xfrm>
            <a:off x="3154680" y="2240280"/>
            <a:ext cx="2651760" cy="457200"/>
          </a:xfrm>
          <a:prstGeom prst="rect">
            <a:avLst/>
          </a:prstGeom>
          <a:noFill/>
          <a:ln/>
        </p:spPr>
        <p:txBody>
          <a:bodyPr wrap="square" lIns="0" tIns="0" rIns="0" bIns="0" rtlCol="0" anchor="ctr"/>
          <a:lstStyle/>
          <a:p>
            <a:pPr algn="ctr" indent="0" marL="0">
              <a:buNone/>
            </a:pPr>
            <a:r>
              <a:rPr lang="en-US" sz="2400" b="1" dirty="0">
                <a:solidFill>
                  <a:srgbClr val="C9A84C"/>
                </a:solidFill>
                <a:latin typeface="Calibri" pitchFamily="34" charset="0"/>
                <a:ea typeface="Calibri" pitchFamily="34" charset="-122"/>
                <a:cs typeface="Calibri" pitchFamily="34" charset="-120"/>
              </a:rPr>
              <a:t>4,898</a:t>
            </a:r>
            <a:endParaRPr lang="en-US" sz="2400" dirty="0"/>
          </a:p>
        </p:txBody>
      </p:sp>
      <p:sp>
        <p:nvSpPr>
          <p:cNvPr id="19" name="Text 17"/>
          <p:cNvSpPr/>
          <p:nvPr/>
        </p:nvSpPr>
        <p:spPr>
          <a:xfrm>
            <a:off x="3154680" y="2715768"/>
            <a:ext cx="2651760" cy="438912"/>
          </a:xfrm>
          <a:prstGeom prst="rect">
            <a:avLst/>
          </a:prstGeom>
          <a:noFill/>
          <a:ln/>
        </p:spPr>
        <p:txBody>
          <a:bodyPr wrap="square" lIns="0" tIns="0" rIns="0" bIns="0" rtlCol="0" anchor="ctr"/>
          <a:lstStyle/>
          <a:p>
            <a:pPr algn="ctr" indent="0" marL="0">
              <a:buNone/>
            </a:pPr>
            <a:r>
              <a:rPr lang="en-US" sz="1000" dirty="0">
                <a:solidFill>
                  <a:srgbClr val="9BB0CC"/>
                </a:solidFill>
                <a:latin typeface="Calibri" pitchFamily="34" charset="0"/>
                <a:ea typeface="Calibri" pitchFamily="34" charset="-122"/>
                <a:cs typeface="Calibri" pitchFamily="34" charset="-120"/>
              </a:rPr>
              <a:t>White wine samples</a:t>
            </a:r>
            <a:endParaRPr lang="en-US" sz="1000" dirty="0"/>
          </a:p>
        </p:txBody>
      </p:sp>
      <p:sp>
        <p:nvSpPr>
          <p:cNvPr id="20" name="Shape 18"/>
          <p:cNvSpPr/>
          <p:nvPr/>
        </p:nvSpPr>
        <p:spPr>
          <a:xfrm>
            <a:off x="5989320" y="2148840"/>
            <a:ext cx="2651760" cy="105156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21" name="Text 19"/>
          <p:cNvSpPr/>
          <p:nvPr/>
        </p:nvSpPr>
        <p:spPr>
          <a:xfrm>
            <a:off x="5989320" y="2240280"/>
            <a:ext cx="2651760" cy="457200"/>
          </a:xfrm>
          <a:prstGeom prst="rect">
            <a:avLst/>
          </a:prstGeom>
          <a:noFill/>
          <a:ln/>
        </p:spPr>
        <p:txBody>
          <a:bodyPr wrap="square" lIns="0" tIns="0" rIns="0" bIns="0" rtlCol="0" anchor="ctr"/>
          <a:lstStyle/>
          <a:p>
            <a:pPr algn="ctr" indent="0" marL="0">
              <a:buNone/>
            </a:pPr>
            <a:r>
              <a:rPr lang="en-US" sz="2400" b="1" dirty="0">
                <a:solidFill>
                  <a:srgbClr val="2A7A4B"/>
                </a:solidFill>
                <a:latin typeface="Calibri" pitchFamily="34" charset="0"/>
                <a:ea typeface="Calibri" pitchFamily="34" charset="-122"/>
                <a:cs typeface="Calibri" pitchFamily="34" charset="-120"/>
              </a:rPr>
              <a:t>0</a:t>
            </a:r>
            <a:endParaRPr lang="en-US" sz="2400" dirty="0"/>
          </a:p>
        </p:txBody>
      </p:sp>
      <p:sp>
        <p:nvSpPr>
          <p:cNvPr id="22" name="Text 20"/>
          <p:cNvSpPr/>
          <p:nvPr/>
        </p:nvSpPr>
        <p:spPr>
          <a:xfrm>
            <a:off x="5989320" y="2715768"/>
            <a:ext cx="2651760" cy="438912"/>
          </a:xfrm>
          <a:prstGeom prst="rect">
            <a:avLst/>
          </a:prstGeom>
          <a:noFill/>
          <a:ln/>
        </p:spPr>
        <p:txBody>
          <a:bodyPr wrap="square" lIns="0" tIns="0" rIns="0" bIns="0" rtlCol="0" anchor="ctr"/>
          <a:lstStyle/>
          <a:p>
            <a:pPr algn="ctr" indent="0" marL="0">
              <a:buNone/>
            </a:pPr>
            <a:r>
              <a:rPr lang="en-US" sz="1000" dirty="0">
                <a:solidFill>
                  <a:srgbClr val="9BB0CC"/>
                </a:solidFill>
                <a:latin typeface="Calibri" pitchFamily="34" charset="0"/>
                <a:ea typeface="Calibri" pitchFamily="34" charset="-122"/>
                <a:cs typeface="Calibri" pitchFamily="34" charset="-120"/>
              </a:rPr>
              <a:t>Missing values</a:t>
            </a:r>
            <a:endParaRPr lang="en-US" sz="1000" dirty="0"/>
          </a:p>
        </p:txBody>
      </p:sp>
      <p:sp>
        <p:nvSpPr>
          <p:cNvPr id="23" name="Shape 21"/>
          <p:cNvSpPr/>
          <p:nvPr/>
        </p:nvSpPr>
        <p:spPr>
          <a:xfrm>
            <a:off x="320040" y="3337560"/>
            <a:ext cx="8503920" cy="150876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24" name="Shape 22"/>
          <p:cNvSpPr/>
          <p:nvPr/>
        </p:nvSpPr>
        <p:spPr>
          <a:xfrm>
            <a:off x="320040" y="3337560"/>
            <a:ext cx="2560320" cy="292608"/>
          </a:xfrm>
          <a:prstGeom prst="rect">
            <a:avLst/>
          </a:prstGeom>
          <a:solidFill>
            <a:srgbClr val="7B1E2C"/>
          </a:solidFill>
          <a:ln w="12700">
            <a:solidFill>
              <a:srgbClr val="7B1E2C"/>
            </a:solidFill>
            <a:prstDash val="solid"/>
          </a:ln>
          <a:effectLst>
            <a:outerShdw sx="100000" sy="100000" kx="0" ky="0" algn="bl" rotWithShape="0" blurRad="101600" dist="38100" dir="8100000">
              <a:srgbClr val="000000">
                <a:alpha val="25000"/>
              </a:srgbClr>
            </a:outerShdw>
          </a:effectLst>
        </p:spPr>
      </p:sp>
      <p:sp>
        <p:nvSpPr>
          <p:cNvPr id="25" name="Text 23"/>
          <p:cNvSpPr/>
          <p:nvPr/>
        </p:nvSpPr>
        <p:spPr>
          <a:xfrm>
            <a:off x="320040" y="3337560"/>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VIF FINDINGS &amp; FOLLOW-UP</a:t>
            </a:r>
            <a:endParaRPr lang="en-US" sz="1000" dirty="0"/>
          </a:p>
        </p:txBody>
      </p:sp>
      <p:sp>
        <p:nvSpPr>
          <p:cNvPr id="26" name="Text 24"/>
          <p:cNvSpPr/>
          <p:nvPr/>
        </p:nvSpPr>
        <p:spPr>
          <a:xfrm>
            <a:off x="502920" y="3730752"/>
            <a:ext cx="8229600" cy="1078992"/>
          </a:xfrm>
          <a:prstGeom prst="rect">
            <a:avLst/>
          </a:prstGeom>
          <a:noFill/>
          <a:ln/>
        </p:spPr>
        <p:txBody>
          <a:bodyPr wrap="square" rtlCol="0" anchor="ctr"/>
          <a:lstStyle/>
          <a:p>
            <a:pPr marL="342900" indent="-342900">
              <a:spcAft>
                <a:spcPts val="400"/>
              </a:spcAft>
              <a:buSzPct val="100000"/>
              <a:buChar char="•"/>
            </a:pPr>
            <a:r>
              <a:rPr lang="en-US" sz="1150" dirty="0">
                <a:solidFill>
                  <a:srgbClr val="F0F4FA"/>
                </a:solidFill>
                <a:latin typeface="Calibri" pitchFamily="34" charset="0"/>
                <a:ea typeface="Calibri" pitchFamily="34" charset="-122"/>
                <a:cs typeface="Calibri" pitchFamily="34" charset="-120"/>
              </a:rPr>
              <a:t>3 features have VIF &gt; 10: volatile_acidity (39.4), acidity_ratio (37.2), density (15.3)
</a:t>
            </a:r>
            <a:endParaRPr lang="en-US" sz="1150" dirty="0"/>
          </a:p>
          <a:p>
            <a:pPr marL="342900" indent="-342900">
              <a:spcAft>
                <a:spcPts val="400"/>
              </a:spcAft>
              <a:buSzPct val="100000"/>
              <a:buChar char="•"/>
            </a:pPr>
            <a:r>
              <a:rPr lang="en-US" sz="1150" dirty="0">
                <a:solidFill>
                  <a:srgbClr val="F0F4FA"/>
                </a:solidFill>
                <a:latin typeface="Calibri" pitchFamily="34" charset="0"/>
                <a:ea typeface="Calibri" pitchFamily="34" charset="-122"/>
                <a:cs typeface="Calibri" pitchFamily="34" charset="-120"/>
              </a:rPr>
              <a:t>Density-drop experiment: RF AUC = 0.9041 (with) vs 0.9040 (without) — no meaningful change
</a:t>
            </a:r>
            <a:endParaRPr lang="en-US" sz="1150" dirty="0"/>
          </a:p>
          <a:p>
            <a:pPr marL="342900" indent="-342900">
              <a:spcAft>
                <a:spcPts val="400"/>
              </a:spcAft>
              <a:buSzPct val="100000"/>
              <a:buChar char="•"/>
            </a:pPr>
            <a:r>
              <a:rPr lang="en-US" sz="1150" dirty="0">
                <a:solidFill>
                  <a:srgbClr val="F0F4FA"/>
                </a:solidFill>
                <a:latin typeface="Calibri" pitchFamily="34" charset="0"/>
                <a:ea typeface="Calibri" pitchFamily="34" charset="-122"/>
                <a:cs typeface="Calibri" pitchFamily="34" charset="-120"/>
              </a:rPr>
              <a:t>Confirms density adds essentially zero independent information to tree-based models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C9A84C"/>
          </a:solidFill>
          <a:ln w="12700">
            <a:solidFill>
              <a:srgbClr val="C9A84C"/>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Preprocessing &amp; Feature Engineering</a:t>
            </a:r>
            <a:endParaRPr lang="en-US" sz="2400" dirty="0"/>
          </a:p>
        </p:txBody>
      </p:sp>
      <p:sp>
        <p:nvSpPr>
          <p:cNvPr id="4" name="Shape 2"/>
          <p:cNvSpPr/>
          <p:nvPr/>
        </p:nvSpPr>
        <p:spPr>
          <a:xfrm>
            <a:off x="457200" y="749808"/>
            <a:ext cx="1097280" cy="32004"/>
          </a:xfrm>
          <a:prstGeom prst="rect">
            <a:avLst/>
          </a:prstGeom>
          <a:solidFill>
            <a:srgbClr val="C9A84C"/>
          </a:solidFill>
          <a:ln w="12700">
            <a:solidFill>
              <a:srgbClr val="C9A84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20040" y="932688"/>
          <a:ext cx="8503920" cy="3154680"/>
        </p:xfrm>
        <a:graphic>
          <a:graphicData uri="http://schemas.openxmlformats.org/drawingml/2006/table">
            <a:tbl>
              <a:tblPr/>
              <a:tblGrid>
                <a:gridCol w="1645920"/>
                <a:gridCol w="2743200"/>
                <a:gridCol w="4114800"/>
              </a:tblGrid>
              <a:tr h="347472">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Step</a:t>
                      </a:r>
                      <a:endParaRPr lang="en-US" sz="11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7B1E2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Action</a:t>
                      </a:r>
                      <a:endParaRPr lang="en-US" sz="11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7B1E2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Rationale</a:t>
                      </a:r>
                      <a:endParaRPr lang="en-US" sz="11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7B1E2C"/>
                    </a:solidFill>
                  </a:tcPr>
                </a:tc>
              </a:tr>
              <a:tr h="502920">
                <a:tc>
                  <a:txBody>
                    <a:bodyPr/>
                    <a:lstStyle/>
                    <a:p>
                      <a:pPr indent="0" marL="0">
                        <a:buNone/>
                      </a:pPr>
                      <a:r>
                        <a:rPr lang="en-US" sz="1100" dirty="0">
                          <a:solidFill>
                            <a:srgbClr val="F0F4FA"/>
                          </a:solidFill>
                          <a:latin typeface="Calibri" pitchFamily="34" charset="0"/>
                          <a:ea typeface="Calibri" pitchFamily="34" charset="-122"/>
                          <a:cs typeface="Calibri" pitchFamily="34" charset="-120"/>
                        </a:rPr>
                        <a:t>Outlier handling</a:t>
                      </a:r>
                      <a:endParaRPr lang="en-US" sz="11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c>
                  <a:txBody>
                    <a:bodyPr/>
                    <a:lstStyle/>
                    <a:p>
                      <a:pPr indent="0" marL="0">
                        <a:buNone/>
                      </a:pPr>
                      <a:r>
                        <a:rPr lang="en-US" sz="1100" dirty="0">
                          <a:solidFill>
                            <a:srgbClr val="F0F4FA"/>
                          </a:solidFill>
                          <a:latin typeface="Calibri" pitchFamily="34" charset="0"/>
                          <a:ea typeface="Calibri" pitchFamily="34" charset="-122"/>
                          <a:cs typeface="Calibri" pitchFamily="34" charset="-120"/>
                        </a:rPr>
                        <a:t>Winsorize chlorides &amp; residual sugar</a:t>
                      </a:r>
                      <a:endParaRPr lang="en-US" sz="1100" dirty="0">
                        <a:latin typeface="Calibri" charset="0"/>
                        <a:ea typeface="Calibri" charset="0"/>
                        <a:cs typeface="Calibri" charset="0"/>
                      </a:endParaRPr>
                    </a:p>
                    <a:p>
                      <a:pPr indent="0" marL="0">
                        <a:buNone/>
                      </a:pPr>
                      <a:r>
                        <a:rPr lang="en-US" sz="1100" dirty="0">
                          <a:solidFill>
                            <a:srgbClr val="F0F4FA"/>
                          </a:solidFill>
                          <a:latin typeface="Calibri" pitchFamily="34" charset="0"/>
                          <a:ea typeface="Calibri" pitchFamily="34" charset="-122"/>
                          <a:cs typeface="Calibri" pitchFamily="34" charset="-120"/>
                        </a:rPr>
                        <a:t>at 1st / 99th percentile</a:t>
                      </a:r>
                      <a:endParaRPr lang="en-US" sz="11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c>
                  <a:txBody>
                    <a:bodyPr/>
                    <a:lstStyle/>
                    <a:p>
                      <a:pPr indent="0" marL="0">
                        <a:buNone/>
                      </a:pPr>
                      <a:r>
                        <a:rPr lang="en-US" sz="1100" dirty="0">
                          <a:solidFill>
                            <a:srgbClr val="F0F4FA"/>
                          </a:solidFill>
                          <a:latin typeface="Calibri" pitchFamily="34" charset="0"/>
                          <a:ea typeface="Calibri" pitchFamily="34" charset="-122"/>
                          <a:cs typeface="Calibri" pitchFamily="34" charset="-120"/>
                        </a:rPr>
                        <a:t>Reduce extreme-value influence</a:t>
                      </a:r>
                      <a:endParaRPr lang="en-US" sz="11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r>
              <a:tr h="502920">
                <a:tc>
                  <a:txBody>
                    <a:bodyPr/>
                    <a:lstStyle/>
                    <a:p>
                      <a:pPr indent="0" marL="0">
                        <a:buNone/>
                      </a:pPr>
                      <a:r>
                        <a:rPr lang="en-US" sz="1100" dirty="0">
                          <a:solidFill>
                            <a:srgbClr val="F0F4FA"/>
                          </a:solidFill>
                          <a:latin typeface="Calibri" pitchFamily="34" charset="0"/>
                          <a:ea typeface="Calibri" pitchFamily="34" charset="-122"/>
                          <a:cs typeface="Calibri" pitchFamily="34" charset="-120"/>
                        </a:rPr>
                        <a:t>Wine type indicator</a:t>
                      </a:r>
                      <a:endParaRPr lang="en-US" sz="11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c>
                  <a:txBody>
                    <a:bodyPr/>
                    <a:lstStyle/>
                    <a:p>
                      <a:pPr indent="0" marL="0">
                        <a:buNone/>
                      </a:pPr>
                      <a:r>
                        <a:rPr lang="en-US" sz="1100" dirty="0">
                          <a:solidFill>
                            <a:srgbClr val="F0F4FA"/>
                          </a:solidFill>
                          <a:latin typeface="Calibri" pitchFamily="34" charset="0"/>
                          <a:ea typeface="Calibri" pitchFamily="34" charset="-122"/>
                          <a:cs typeface="Calibri" pitchFamily="34" charset="-120"/>
                        </a:rPr>
                        <a:t>Encode red = 0, white = 1</a:t>
                      </a:r>
                      <a:endParaRPr lang="en-US" sz="11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c>
                  <a:txBody>
                    <a:bodyPr/>
                    <a:lstStyle/>
                    <a:p>
                      <a:pPr indent="0" marL="0">
                        <a:buNone/>
                      </a:pPr>
                      <a:r>
                        <a:rPr lang="en-US" sz="1100" dirty="0">
                          <a:solidFill>
                            <a:srgbClr val="F0F4FA"/>
                          </a:solidFill>
                          <a:latin typeface="Calibri" pitchFamily="34" charset="0"/>
                          <a:ea typeface="Calibri" pitchFamily="34" charset="-122"/>
                          <a:cs typeface="Calibri" pitchFamily="34" charset="-120"/>
                        </a:rPr>
                        <a:t>Red &amp; white have different chemistry</a:t>
                      </a:r>
                      <a:endParaRPr lang="en-US" sz="11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r>
              <a:tr h="502920">
                <a:tc>
                  <a:txBody>
                    <a:bodyPr/>
                    <a:lstStyle/>
                    <a:p>
                      <a:pPr indent="0" marL="0">
                        <a:buNone/>
                      </a:pPr>
                      <a:r>
                        <a:rPr lang="en-US" sz="1100" dirty="0">
                          <a:solidFill>
                            <a:srgbClr val="F0F4FA"/>
                          </a:solidFill>
                          <a:latin typeface="Calibri" pitchFamily="34" charset="0"/>
                          <a:ea typeface="Calibri" pitchFamily="34" charset="-122"/>
                          <a:cs typeface="Calibri" pitchFamily="34" charset="-120"/>
                        </a:rPr>
                        <a:t>SO₂ ratio</a:t>
                      </a:r>
                      <a:endParaRPr lang="en-US" sz="11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c>
                  <a:txBody>
                    <a:bodyPr/>
                    <a:lstStyle/>
                    <a:p>
                      <a:pPr indent="0" marL="0">
                        <a:buNone/>
                      </a:pPr>
                      <a:r>
                        <a:rPr lang="en-US" sz="1100" dirty="0">
                          <a:solidFill>
                            <a:srgbClr val="F0F4FA"/>
                          </a:solidFill>
                          <a:latin typeface="Calibri" pitchFamily="34" charset="0"/>
                          <a:ea typeface="Calibri" pitchFamily="34" charset="-122"/>
                          <a:cs typeface="Calibri" pitchFamily="34" charset="-120"/>
                        </a:rPr>
                        <a:t>free SO₂ / (total SO₂ + ε)</a:t>
                      </a:r>
                      <a:endParaRPr lang="en-US" sz="11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c>
                  <a:txBody>
                    <a:bodyPr/>
                    <a:lstStyle/>
                    <a:p>
                      <a:pPr indent="0" marL="0">
                        <a:buNone/>
                      </a:pPr>
                      <a:r>
                        <a:rPr lang="en-US" sz="1100" dirty="0">
                          <a:solidFill>
                            <a:srgbClr val="F0F4FA"/>
                          </a:solidFill>
                          <a:latin typeface="Calibri" pitchFamily="34" charset="0"/>
                          <a:ea typeface="Calibri" pitchFamily="34" charset="-122"/>
                          <a:cs typeface="Calibri" pitchFamily="34" charset="-120"/>
                        </a:rPr>
                        <a:t>Effective preservation fraction</a:t>
                      </a:r>
                      <a:endParaRPr lang="en-US" sz="11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r>
              <a:tr h="502920">
                <a:tc>
                  <a:txBody>
                    <a:bodyPr/>
                    <a:lstStyle/>
                    <a:p>
                      <a:pPr indent="0" marL="0">
                        <a:buNone/>
                      </a:pPr>
                      <a:r>
                        <a:rPr lang="en-US" sz="1100" dirty="0">
                          <a:solidFill>
                            <a:srgbClr val="F0F4FA"/>
                          </a:solidFill>
                          <a:latin typeface="Calibri" pitchFamily="34" charset="0"/>
                          <a:ea typeface="Calibri" pitchFamily="34" charset="-122"/>
                          <a:cs typeface="Calibri" pitchFamily="34" charset="-120"/>
                        </a:rPr>
                        <a:t>Acidity ratio</a:t>
                      </a:r>
                      <a:endParaRPr lang="en-US" sz="11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c>
                  <a:txBody>
                    <a:bodyPr/>
                    <a:lstStyle/>
                    <a:p>
                      <a:pPr indent="0" marL="0">
                        <a:buNone/>
                      </a:pPr>
                      <a:r>
                        <a:rPr lang="en-US" sz="1100" dirty="0">
                          <a:solidFill>
                            <a:srgbClr val="F0F4FA"/>
                          </a:solidFill>
                          <a:latin typeface="Calibri" pitchFamily="34" charset="0"/>
                          <a:ea typeface="Calibri" pitchFamily="34" charset="-122"/>
                          <a:cs typeface="Calibri" pitchFamily="34" charset="-120"/>
                        </a:rPr>
                        <a:t>volatile acidity / (fixed acidity + ε)</a:t>
                      </a:r>
                      <a:endParaRPr lang="en-US" sz="11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c>
                  <a:txBody>
                    <a:bodyPr/>
                    <a:lstStyle/>
                    <a:p>
                      <a:pPr indent="0" marL="0">
                        <a:buNone/>
                      </a:pPr>
                      <a:r>
                        <a:rPr lang="en-US" sz="1100" dirty="0">
                          <a:solidFill>
                            <a:srgbClr val="F0F4FA"/>
                          </a:solidFill>
                          <a:latin typeface="Calibri" pitchFamily="34" charset="0"/>
                          <a:ea typeface="Calibri" pitchFamily="34" charset="-122"/>
                          <a:cs typeface="Calibri" pitchFamily="34" charset="-120"/>
                        </a:rPr>
                        <a:t>Relative spoilage-acidity contribution</a:t>
                      </a:r>
                      <a:endParaRPr lang="en-US" sz="11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r>
              <a:tr h="502920">
                <a:tc>
                  <a:txBody>
                    <a:bodyPr/>
                    <a:lstStyle/>
                    <a:p>
                      <a:pPr indent="0" marL="0">
                        <a:buNone/>
                      </a:pPr>
                      <a:r>
                        <a:rPr lang="en-US" sz="1100" dirty="0">
                          <a:solidFill>
                            <a:srgbClr val="F0F4FA"/>
                          </a:solidFill>
                          <a:latin typeface="Calibri" pitchFamily="34" charset="0"/>
                          <a:ea typeface="Calibri" pitchFamily="34" charset="-122"/>
                          <a:cs typeface="Calibri" pitchFamily="34" charset="-120"/>
                        </a:rPr>
                        <a:t>Standardization</a:t>
                      </a:r>
                      <a:endParaRPr lang="en-US" sz="11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c>
                  <a:txBody>
                    <a:bodyPr/>
                    <a:lstStyle/>
                    <a:p>
                      <a:pPr indent="0" marL="0">
                        <a:buNone/>
                      </a:pPr>
                      <a:r>
                        <a:rPr lang="en-US" sz="1100" dirty="0">
                          <a:solidFill>
                            <a:srgbClr val="F0F4FA"/>
                          </a:solidFill>
                          <a:latin typeface="Calibri" pitchFamily="34" charset="0"/>
                          <a:ea typeface="Calibri" pitchFamily="34" charset="-122"/>
                          <a:cs typeface="Calibri" pitchFamily="34" charset="-120"/>
                        </a:rPr>
                        <a:t>Zero mean, unit variance</a:t>
                      </a:r>
                      <a:endParaRPr lang="en-US" sz="11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c>
                  <a:txBody>
                    <a:bodyPr/>
                    <a:lstStyle/>
                    <a:p>
                      <a:pPr indent="0" marL="0">
                        <a:buNone/>
                      </a:pPr>
                      <a:r>
                        <a:rPr lang="en-US" sz="1100" dirty="0">
                          <a:solidFill>
                            <a:srgbClr val="F0F4FA"/>
                          </a:solidFill>
                          <a:latin typeface="Calibri" pitchFamily="34" charset="0"/>
                          <a:ea typeface="Calibri" pitchFamily="34" charset="-122"/>
                          <a:cs typeface="Calibri" pitchFamily="34" charset="-120"/>
                        </a:rPr>
                        <a:t>Required for LR &amp; SVM; skipped for RF</a:t>
                      </a:r>
                      <a:endParaRPr lang="en-US" sz="11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r>
            </a:tbl>
          </a:graphicData>
        </a:graphic>
      </p:graphicFrame>
      <p:sp>
        <p:nvSpPr>
          <p:cNvPr id="6" name="Shape 3"/>
          <p:cNvSpPr/>
          <p:nvPr/>
        </p:nvSpPr>
        <p:spPr>
          <a:xfrm>
            <a:off x="320040" y="4206240"/>
            <a:ext cx="8503920" cy="658368"/>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7" name="Text 4"/>
          <p:cNvSpPr/>
          <p:nvPr/>
        </p:nvSpPr>
        <p:spPr>
          <a:xfrm>
            <a:off x="457200" y="4261104"/>
            <a:ext cx="8229600" cy="548640"/>
          </a:xfrm>
          <a:prstGeom prst="rect">
            <a:avLst/>
          </a:prstGeom>
          <a:noFill/>
          <a:ln/>
        </p:spPr>
        <p:txBody>
          <a:bodyPr wrap="square" lIns="0" tIns="0" rIns="0" bIns="0" rtlCol="0" anchor="ctr"/>
          <a:lstStyle/>
          <a:p>
            <a:pPr indent="0" marL="0">
              <a:buNone/>
            </a:pPr>
            <a:r>
              <a:rPr lang="en-US" sz="1200" dirty="0">
                <a:solidFill>
                  <a:srgbClr val="9BB0CC"/>
                </a:solidFill>
                <a:latin typeface="Calibri" pitchFamily="34" charset="0"/>
                <a:ea typeface="Calibri" pitchFamily="34" charset="-122"/>
                <a:cs typeface="Calibri" pitchFamily="34" charset="-120"/>
              </a:rPr>
              <a:t>Final feature matrix: </a:t>
            </a:r>
            <a:pPr indent="0" marL="0">
              <a:buNone/>
            </a:pPr>
            <a:r>
              <a:rPr lang="en-US" sz="1200" b="1" dirty="0">
                <a:solidFill>
                  <a:srgbClr val="C9A84C"/>
                </a:solidFill>
                <a:latin typeface="Calibri" pitchFamily="34" charset="0"/>
                <a:ea typeface="Calibri" pitchFamily="34" charset="-122"/>
                <a:cs typeface="Calibri" pitchFamily="34" charset="-120"/>
              </a:rPr>
              <a:t>14 features </a:t>
            </a:r>
            <a:pPr indent="0" marL="0">
              <a:buNone/>
            </a:pPr>
            <a:r>
              <a:rPr lang="en-US" sz="1200" dirty="0">
                <a:solidFill>
                  <a:srgbClr val="9BB0CC"/>
                </a:solidFill>
                <a:latin typeface="Calibri" pitchFamily="34" charset="0"/>
                <a:ea typeface="Calibri" pitchFamily="34" charset="-122"/>
                <a:cs typeface="Calibri" pitchFamily="34" charset="-120"/>
              </a:rPr>
              <a:t>(11 original  +  3 engineered)     </a:t>
            </a:r>
            <a:pPr indent="0" marL="0">
              <a:buNone/>
            </a:pPr>
            <a:r>
              <a:rPr lang="en-US" sz="1200" b="1" dirty="0">
                <a:solidFill>
                  <a:srgbClr val="A83246"/>
                </a:solidFill>
                <a:latin typeface="Calibri" pitchFamily="34" charset="0"/>
                <a:ea typeface="Calibri" pitchFamily="34" charset="-122"/>
                <a:cs typeface="Calibri" pitchFamily="34" charset="-120"/>
              </a:rPr>
              <a:t>Scaler fit on training set only </a:t>
            </a:r>
            <a:pPr indent="0" marL="0">
              <a:buNone/>
            </a:pPr>
            <a:r>
              <a:rPr lang="en-US" sz="1200" dirty="0">
                <a:solidFill>
                  <a:srgbClr val="9BB0CC"/>
                </a:solidFill>
                <a:latin typeface="Calibri" pitchFamily="34" charset="0"/>
                <a:ea typeface="Calibri" pitchFamily="34" charset="-122"/>
                <a:cs typeface="Calibri" pitchFamily="34" charset="-120"/>
              </a:rPr>
              <a:t>— no data leakage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7B1E2C"/>
          </a:solidFill>
          <a:ln w="12700">
            <a:solidFill>
              <a:srgbClr val="7B1E2C"/>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Experimental Protocol — Rigor &amp; Reproducibility</a:t>
            </a:r>
            <a:endParaRPr lang="en-US" sz="2400" dirty="0"/>
          </a:p>
        </p:txBody>
      </p:sp>
      <p:sp>
        <p:nvSpPr>
          <p:cNvPr id="4" name="Shape 2"/>
          <p:cNvSpPr/>
          <p:nvPr/>
        </p:nvSpPr>
        <p:spPr>
          <a:xfrm>
            <a:off x="457200" y="749808"/>
            <a:ext cx="1097280" cy="32004"/>
          </a:xfrm>
          <a:prstGeom prst="rect">
            <a:avLst/>
          </a:prstGeom>
          <a:solidFill>
            <a:srgbClr val="C9A84C"/>
          </a:solidFill>
          <a:ln w="12700">
            <a:solidFill>
              <a:srgbClr val="C9A84C"/>
            </a:solidFill>
            <a:prstDash val="solid"/>
          </a:ln>
        </p:spPr>
      </p:sp>
      <p:sp>
        <p:nvSpPr>
          <p:cNvPr id="5" name="Shape 3"/>
          <p:cNvSpPr/>
          <p:nvPr/>
        </p:nvSpPr>
        <p:spPr>
          <a:xfrm>
            <a:off x="320040" y="960120"/>
            <a:ext cx="2697480" cy="228600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20040" y="960120"/>
            <a:ext cx="2697480" cy="347472"/>
          </a:xfrm>
          <a:prstGeom prst="rect">
            <a:avLst/>
          </a:prstGeom>
          <a:solidFill>
            <a:srgbClr val="C9A84C"/>
          </a:solidFill>
          <a:ln w="12700">
            <a:solidFill>
              <a:srgbClr val="C9A84C"/>
            </a:solidFill>
            <a:prstDash val="solid"/>
          </a:ln>
        </p:spPr>
      </p:sp>
      <p:sp>
        <p:nvSpPr>
          <p:cNvPr id="7" name="Text 5"/>
          <p:cNvSpPr/>
          <p:nvPr/>
        </p:nvSpPr>
        <p:spPr>
          <a:xfrm>
            <a:off x="320040" y="960120"/>
            <a:ext cx="269748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TRAIN</a:t>
            </a:r>
            <a:endParaRPr lang="en-US" sz="1100" dirty="0"/>
          </a:p>
        </p:txBody>
      </p:sp>
      <p:sp>
        <p:nvSpPr>
          <p:cNvPr id="8" name="Text 6"/>
          <p:cNvSpPr/>
          <p:nvPr/>
        </p:nvSpPr>
        <p:spPr>
          <a:xfrm>
            <a:off x="320040" y="1371600"/>
            <a:ext cx="2697480" cy="640080"/>
          </a:xfrm>
          <a:prstGeom prst="rect">
            <a:avLst/>
          </a:prstGeom>
          <a:noFill/>
          <a:ln/>
        </p:spPr>
        <p:txBody>
          <a:bodyPr wrap="square" lIns="0" tIns="0" rIns="0" bIns="0" rtlCol="0" anchor="ctr"/>
          <a:lstStyle/>
          <a:p>
            <a:pPr algn="ctr" indent="0" marL="0">
              <a:buNone/>
            </a:pPr>
            <a:r>
              <a:rPr lang="en-US" sz="3600" b="1" dirty="0">
                <a:solidFill>
                  <a:srgbClr val="C9A84C"/>
                </a:solidFill>
                <a:latin typeface="Calibri" pitchFamily="34" charset="0"/>
                <a:ea typeface="Calibri" pitchFamily="34" charset="-122"/>
                <a:cs typeface="Calibri" pitchFamily="34" charset="-120"/>
              </a:rPr>
              <a:t>4,547</a:t>
            </a:r>
            <a:endParaRPr lang="en-US" sz="3600" dirty="0"/>
          </a:p>
        </p:txBody>
      </p:sp>
      <p:sp>
        <p:nvSpPr>
          <p:cNvPr id="9" name="Text 7"/>
          <p:cNvSpPr/>
          <p:nvPr/>
        </p:nvSpPr>
        <p:spPr>
          <a:xfrm>
            <a:off x="320040" y="2331720"/>
            <a:ext cx="2697480" cy="777240"/>
          </a:xfrm>
          <a:prstGeom prst="rect">
            <a:avLst/>
          </a:prstGeom>
          <a:noFill/>
          <a:ln/>
        </p:spPr>
        <p:txBody>
          <a:bodyPr wrap="square" lIns="50800" tIns="50800" rIns="50800" bIns="50800" rtlCol="0" anchor="ctr"/>
          <a:lstStyle/>
          <a:p>
            <a:pPr algn="ctr" indent="0" marL="0">
              <a:buNone/>
            </a:pPr>
            <a:r>
              <a:rPr lang="en-US" sz="1100" i="1" dirty="0">
                <a:solidFill>
                  <a:srgbClr val="9BB0CC"/>
                </a:solidFill>
                <a:latin typeface="Calibri" pitchFamily="34" charset="0"/>
                <a:ea typeface="Calibri" pitchFamily="34" charset="-122"/>
                <a:cs typeface="Calibri" pitchFamily="34" charset="-120"/>
              </a:rPr>
              <a:t>Model fitting,</a:t>
            </a:r>
            <a:endParaRPr lang="en-US" sz="1100" dirty="0"/>
          </a:p>
          <a:p>
            <a:pPr algn="ctr" indent="0" marL="0">
              <a:buNone/>
            </a:pPr>
            <a:r>
              <a:rPr lang="en-US" sz="1100" i="1" dirty="0">
                <a:solidFill>
                  <a:srgbClr val="9BB0CC"/>
                </a:solidFill>
                <a:latin typeface="Calibri" pitchFamily="34" charset="0"/>
                <a:ea typeface="Calibri" pitchFamily="34" charset="-122"/>
                <a:cs typeface="Calibri" pitchFamily="34" charset="-120"/>
              </a:rPr>
              <a:t>GridSearchCV</a:t>
            </a:r>
            <a:endParaRPr lang="en-US" sz="1100" dirty="0"/>
          </a:p>
        </p:txBody>
      </p:sp>
      <p:sp>
        <p:nvSpPr>
          <p:cNvPr id="10" name="Shape 8"/>
          <p:cNvSpPr/>
          <p:nvPr/>
        </p:nvSpPr>
        <p:spPr>
          <a:xfrm>
            <a:off x="3154680" y="960120"/>
            <a:ext cx="2697480" cy="228600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11" name="Shape 9"/>
          <p:cNvSpPr/>
          <p:nvPr/>
        </p:nvSpPr>
        <p:spPr>
          <a:xfrm>
            <a:off x="3154680" y="960120"/>
            <a:ext cx="2697480" cy="347472"/>
          </a:xfrm>
          <a:prstGeom prst="rect">
            <a:avLst/>
          </a:prstGeom>
          <a:solidFill>
            <a:srgbClr val="7B1E2C"/>
          </a:solidFill>
          <a:ln w="12700">
            <a:solidFill>
              <a:srgbClr val="7B1E2C"/>
            </a:solidFill>
            <a:prstDash val="solid"/>
          </a:ln>
        </p:spPr>
      </p:sp>
      <p:sp>
        <p:nvSpPr>
          <p:cNvPr id="12" name="Text 10"/>
          <p:cNvSpPr/>
          <p:nvPr/>
        </p:nvSpPr>
        <p:spPr>
          <a:xfrm>
            <a:off x="3154680" y="960120"/>
            <a:ext cx="269748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VALIDATION</a:t>
            </a:r>
            <a:endParaRPr lang="en-US" sz="1100" dirty="0"/>
          </a:p>
        </p:txBody>
      </p:sp>
      <p:sp>
        <p:nvSpPr>
          <p:cNvPr id="13" name="Text 11"/>
          <p:cNvSpPr/>
          <p:nvPr/>
        </p:nvSpPr>
        <p:spPr>
          <a:xfrm>
            <a:off x="3154680" y="1371600"/>
            <a:ext cx="2697480" cy="640080"/>
          </a:xfrm>
          <a:prstGeom prst="rect">
            <a:avLst/>
          </a:prstGeom>
          <a:noFill/>
          <a:ln/>
        </p:spPr>
        <p:txBody>
          <a:bodyPr wrap="square" lIns="0" tIns="0" rIns="0" bIns="0" rtlCol="0" anchor="ctr"/>
          <a:lstStyle/>
          <a:p>
            <a:pPr algn="ctr" indent="0" marL="0">
              <a:buNone/>
            </a:pPr>
            <a:r>
              <a:rPr lang="en-US" sz="3600" b="1" dirty="0">
                <a:solidFill>
                  <a:srgbClr val="7B1E2C"/>
                </a:solidFill>
                <a:latin typeface="Calibri" pitchFamily="34" charset="0"/>
                <a:ea typeface="Calibri" pitchFamily="34" charset="-122"/>
                <a:cs typeface="Calibri" pitchFamily="34" charset="-120"/>
              </a:rPr>
              <a:t>975</a:t>
            </a:r>
            <a:endParaRPr lang="en-US" sz="3600" dirty="0"/>
          </a:p>
        </p:txBody>
      </p:sp>
      <p:sp>
        <p:nvSpPr>
          <p:cNvPr id="14" name="Text 12"/>
          <p:cNvSpPr/>
          <p:nvPr/>
        </p:nvSpPr>
        <p:spPr>
          <a:xfrm>
            <a:off x="3154680" y="2331720"/>
            <a:ext cx="2697480" cy="777240"/>
          </a:xfrm>
          <a:prstGeom prst="rect">
            <a:avLst/>
          </a:prstGeom>
          <a:noFill/>
          <a:ln/>
        </p:spPr>
        <p:txBody>
          <a:bodyPr wrap="square" lIns="50800" tIns="50800" rIns="50800" bIns="50800" rtlCol="0" anchor="ctr"/>
          <a:lstStyle/>
          <a:p>
            <a:pPr algn="ctr" indent="0" marL="0">
              <a:buNone/>
            </a:pPr>
            <a:r>
              <a:rPr lang="en-US" sz="1100" i="1" dirty="0">
                <a:solidFill>
                  <a:srgbClr val="9BB0CC"/>
                </a:solidFill>
                <a:latin typeface="Calibri" pitchFamily="34" charset="0"/>
                <a:ea typeface="Calibri" pitchFamily="34" charset="-122"/>
                <a:cs typeface="Calibri" pitchFamily="34" charset="-120"/>
              </a:rPr>
              <a:t>Threshold tuning,</a:t>
            </a:r>
            <a:endParaRPr lang="en-US" sz="1100" dirty="0"/>
          </a:p>
          <a:p>
            <a:pPr algn="ctr" indent="0" marL="0">
              <a:buNone/>
            </a:pPr>
            <a:r>
              <a:rPr lang="en-US" sz="1100" i="1" dirty="0">
                <a:solidFill>
                  <a:srgbClr val="9BB0CC"/>
                </a:solidFill>
                <a:latin typeface="Calibri" pitchFamily="34" charset="0"/>
                <a:ea typeface="Calibri" pitchFamily="34" charset="-122"/>
                <a:cs typeface="Calibri" pitchFamily="34" charset="-120"/>
              </a:rPr>
              <a:t>model selection</a:t>
            </a:r>
            <a:endParaRPr lang="en-US" sz="1100" dirty="0"/>
          </a:p>
        </p:txBody>
      </p:sp>
      <p:sp>
        <p:nvSpPr>
          <p:cNvPr id="15" name="Shape 13"/>
          <p:cNvSpPr/>
          <p:nvPr/>
        </p:nvSpPr>
        <p:spPr>
          <a:xfrm>
            <a:off x="5989320" y="960120"/>
            <a:ext cx="2697480" cy="2286000"/>
          </a:xfrm>
          <a:prstGeom prst="rect">
            <a:avLst/>
          </a:prstGeom>
          <a:solidFill>
            <a:srgbClr val="152338"/>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16" name="Shape 14"/>
          <p:cNvSpPr/>
          <p:nvPr/>
        </p:nvSpPr>
        <p:spPr>
          <a:xfrm>
            <a:off x="5989320" y="960120"/>
            <a:ext cx="2697480" cy="347472"/>
          </a:xfrm>
          <a:prstGeom prst="rect">
            <a:avLst/>
          </a:prstGeom>
          <a:solidFill>
            <a:srgbClr val="2A7A4B"/>
          </a:solidFill>
          <a:ln w="12700">
            <a:solidFill>
              <a:srgbClr val="2A7A4B"/>
            </a:solidFill>
            <a:prstDash val="solid"/>
          </a:ln>
        </p:spPr>
      </p:sp>
      <p:sp>
        <p:nvSpPr>
          <p:cNvPr id="17" name="Text 15"/>
          <p:cNvSpPr/>
          <p:nvPr/>
        </p:nvSpPr>
        <p:spPr>
          <a:xfrm>
            <a:off x="5989320" y="960120"/>
            <a:ext cx="269748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TEST (HOLDOUT)</a:t>
            </a:r>
            <a:endParaRPr lang="en-US" sz="1100" dirty="0"/>
          </a:p>
        </p:txBody>
      </p:sp>
      <p:sp>
        <p:nvSpPr>
          <p:cNvPr id="18" name="Text 16"/>
          <p:cNvSpPr/>
          <p:nvPr/>
        </p:nvSpPr>
        <p:spPr>
          <a:xfrm>
            <a:off x="5989320" y="1371600"/>
            <a:ext cx="2697480" cy="640080"/>
          </a:xfrm>
          <a:prstGeom prst="rect">
            <a:avLst/>
          </a:prstGeom>
          <a:noFill/>
          <a:ln/>
        </p:spPr>
        <p:txBody>
          <a:bodyPr wrap="square" lIns="0" tIns="0" rIns="0" bIns="0" rtlCol="0" anchor="ctr"/>
          <a:lstStyle/>
          <a:p>
            <a:pPr algn="ctr" indent="0" marL="0">
              <a:buNone/>
            </a:pPr>
            <a:r>
              <a:rPr lang="en-US" sz="3600" b="1" dirty="0">
                <a:solidFill>
                  <a:srgbClr val="2A7A4B"/>
                </a:solidFill>
                <a:latin typeface="Calibri" pitchFamily="34" charset="0"/>
                <a:ea typeface="Calibri" pitchFamily="34" charset="-122"/>
                <a:cs typeface="Calibri" pitchFamily="34" charset="-120"/>
              </a:rPr>
              <a:t>975</a:t>
            </a:r>
            <a:endParaRPr lang="en-US" sz="3600" dirty="0"/>
          </a:p>
        </p:txBody>
      </p:sp>
      <p:sp>
        <p:nvSpPr>
          <p:cNvPr id="19" name="Text 17"/>
          <p:cNvSpPr/>
          <p:nvPr/>
        </p:nvSpPr>
        <p:spPr>
          <a:xfrm>
            <a:off x="5989320" y="2331720"/>
            <a:ext cx="2697480" cy="777240"/>
          </a:xfrm>
          <a:prstGeom prst="rect">
            <a:avLst/>
          </a:prstGeom>
          <a:noFill/>
          <a:ln/>
        </p:spPr>
        <p:txBody>
          <a:bodyPr wrap="square" lIns="50800" tIns="50800" rIns="50800" bIns="50800" rtlCol="0" anchor="ctr"/>
          <a:lstStyle/>
          <a:p>
            <a:pPr algn="ctr" indent="0" marL="0">
              <a:buNone/>
            </a:pPr>
            <a:r>
              <a:rPr lang="en-US" sz="1100" i="1" dirty="0">
                <a:solidFill>
                  <a:srgbClr val="9BB0CC"/>
                </a:solidFill>
                <a:latin typeface="Calibri" pitchFamily="34" charset="0"/>
                <a:ea typeface="Calibri" pitchFamily="34" charset="-122"/>
                <a:cs typeface="Calibri" pitchFamily="34" charset="-120"/>
              </a:rPr>
              <a:t>Reported once</a:t>
            </a:r>
            <a:endParaRPr lang="en-US" sz="1100" dirty="0"/>
          </a:p>
          <a:p>
            <a:pPr algn="ctr" indent="0" marL="0">
              <a:buNone/>
            </a:pPr>
            <a:r>
              <a:rPr lang="en-US" sz="1100" i="1" dirty="0">
                <a:solidFill>
                  <a:srgbClr val="9BB0CC"/>
                </a:solidFill>
                <a:latin typeface="Calibri" pitchFamily="34" charset="0"/>
                <a:ea typeface="Calibri" pitchFamily="34" charset="-122"/>
                <a:cs typeface="Calibri" pitchFamily="34" charset="-120"/>
              </a:rPr>
              <a:t>per model</a:t>
            </a:r>
            <a:endParaRPr lang="en-US" sz="1100" dirty="0"/>
          </a:p>
        </p:txBody>
      </p:sp>
      <p:sp>
        <p:nvSpPr>
          <p:cNvPr id="20" name="Shape 18"/>
          <p:cNvSpPr/>
          <p:nvPr/>
        </p:nvSpPr>
        <p:spPr>
          <a:xfrm>
            <a:off x="320040" y="3383280"/>
            <a:ext cx="8503920" cy="150876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21" name="Shape 19"/>
          <p:cNvSpPr/>
          <p:nvPr/>
        </p:nvSpPr>
        <p:spPr>
          <a:xfrm>
            <a:off x="320040" y="3383280"/>
            <a:ext cx="2743200" cy="292608"/>
          </a:xfrm>
          <a:prstGeom prst="rect">
            <a:avLst/>
          </a:prstGeom>
          <a:solidFill>
            <a:srgbClr val="7B1E2C"/>
          </a:solidFill>
          <a:ln w="12700">
            <a:solidFill>
              <a:srgbClr val="7B1E2C"/>
            </a:solidFill>
            <a:prstDash val="solid"/>
          </a:ln>
          <a:effectLst>
            <a:outerShdw sx="100000" sy="100000" kx="0" ky="0" algn="bl" rotWithShape="0" blurRad="101600" dist="38100" dir="8100000">
              <a:srgbClr val="000000">
                <a:alpha val="25000"/>
              </a:srgbClr>
            </a:outerShdw>
          </a:effectLst>
        </p:spPr>
      </p:sp>
      <p:sp>
        <p:nvSpPr>
          <p:cNvPr id="22" name="Text 20"/>
          <p:cNvSpPr/>
          <p:nvPr/>
        </p:nvSpPr>
        <p:spPr>
          <a:xfrm>
            <a:off x="320040" y="3383280"/>
            <a:ext cx="27432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TUNING &amp; EVALUATION PROTOCOL</a:t>
            </a:r>
            <a:endParaRPr lang="en-US" sz="1000" dirty="0"/>
          </a:p>
        </p:txBody>
      </p:sp>
      <p:sp>
        <p:nvSpPr>
          <p:cNvPr id="23" name="Text 21"/>
          <p:cNvSpPr/>
          <p:nvPr/>
        </p:nvSpPr>
        <p:spPr>
          <a:xfrm>
            <a:off x="502920" y="3776472"/>
            <a:ext cx="8229600" cy="1097280"/>
          </a:xfrm>
          <a:prstGeom prst="rect">
            <a:avLst/>
          </a:prstGeom>
          <a:noFill/>
          <a:ln/>
        </p:spPr>
        <p:txBody>
          <a:bodyPr wrap="square" rtlCol="0" anchor="ctr"/>
          <a:lstStyle/>
          <a:p>
            <a:pPr indent="0" marL="0">
              <a:spcAft>
                <a:spcPts val="300"/>
              </a:spcAft>
              <a:buNone/>
            </a:pPr>
            <a:r>
              <a:rPr lang="en-US" sz="1100" b="1" dirty="0">
                <a:solidFill>
                  <a:srgbClr val="C9A84C"/>
                </a:solidFill>
                <a:latin typeface="Calibri" pitchFamily="34" charset="0"/>
                <a:ea typeface="Calibri" pitchFamily="34" charset="-122"/>
                <a:cs typeface="Calibri" pitchFamily="34" charset="-120"/>
              </a:rPr>
              <a:t>Hyperparameter search: </a:t>
            </a:r>
            <a:pPr indent="0" marL="0">
              <a:spcAft>
                <a:spcPts val="300"/>
              </a:spcAft>
              <a:buNone/>
            </a:pPr>
            <a:r>
              <a:rPr lang="en-US" sz="1100" dirty="0">
                <a:solidFill>
                  <a:srgbClr val="F0F4FA"/>
                </a:solidFill>
                <a:latin typeface="Calibri" pitchFamily="34" charset="0"/>
                <a:ea typeface="Calibri" pitchFamily="34" charset="-122"/>
                <a:cs typeface="Calibri" pitchFamily="34" charset="-120"/>
              </a:rPr>
              <a:t>5-fold stratified CV inside training set, scoring=ROC-AUC
</a:t>
            </a:r>
            <a:endParaRPr lang="en-US" sz="1100" dirty="0"/>
          </a:p>
          <a:p>
            <a:pPr indent="0" marL="0">
              <a:spcAft>
                <a:spcPts val="300"/>
              </a:spcAft>
              <a:buNone/>
            </a:pPr>
            <a:r>
              <a:rPr lang="en-US" sz="1100" b="1" dirty="0">
                <a:solidFill>
                  <a:srgbClr val="C9A84C"/>
                </a:solidFill>
                <a:latin typeface="Calibri" pitchFamily="34" charset="0"/>
                <a:ea typeface="Calibri" pitchFamily="34" charset="-122"/>
                <a:cs typeface="Calibri" pitchFamily="34" charset="-120"/>
              </a:rPr>
              <a:t>class_weight ∈ {None, 'balanced'} </a:t>
            </a:r>
            <a:pPr indent="0" marL="0">
              <a:spcAft>
                <a:spcPts val="300"/>
              </a:spcAft>
              <a:buNone/>
            </a:pPr>
            <a:r>
              <a:rPr lang="en-US" sz="1100" dirty="0">
                <a:solidFill>
                  <a:srgbClr val="F0F4FA"/>
                </a:solidFill>
                <a:latin typeface="Calibri" pitchFamily="34" charset="0"/>
                <a:ea typeface="Calibri" pitchFamily="34" charset="-122"/>
                <a:cs typeface="Calibri" pitchFamily="34" charset="-120"/>
              </a:rPr>
              <a:t>tuned for all 3 models (not just RF)
</a:t>
            </a:r>
            <a:endParaRPr lang="en-US" sz="1100" dirty="0"/>
          </a:p>
          <a:p>
            <a:pPr indent="0" marL="0">
              <a:spcAft>
                <a:spcPts val="300"/>
              </a:spcAft>
              <a:buNone/>
            </a:pPr>
            <a:r>
              <a:rPr lang="en-US" sz="1100" b="1" dirty="0">
                <a:solidFill>
                  <a:srgbClr val="C9A84C"/>
                </a:solidFill>
                <a:latin typeface="Calibri" pitchFamily="34" charset="0"/>
                <a:ea typeface="Calibri" pitchFamily="34" charset="-122"/>
                <a:cs typeface="Calibri" pitchFamily="34" charset="-120"/>
              </a:rPr>
              <a:t>Test metrics include: </a:t>
            </a:r>
            <a:pPr indent="0" marL="0">
              <a:spcAft>
                <a:spcPts val="300"/>
              </a:spcAft>
              <a:buNone/>
            </a:pPr>
            <a:r>
              <a:rPr lang="en-US" sz="1100" dirty="0">
                <a:solidFill>
                  <a:srgbClr val="F0F4FA"/>
                </a:solidFill>
                <a:latin typeface="Calibri" pitchFamily="34" charset="0"/>
                <a:ea typeface="Calibri" pitchFamily="34" charset="-122"/>
                <a:cs typeface="Calibri" pitchFamily="34" charset="-120"/>
              </a:rPr>
              <a:t>ROC-AUC + PR-AUC, Brier score, 95% bootstrap CI, McNemar's test
</a:t>
            </a:r>
            <a:endParaRPr lang="en-US" sz="1100" dirty="0"/>
          </a:p>
          <a:p>
            <a:pPr indent="0" marL="0">
              <a:spcAft>
                <a:spcPts val="300"/>
              </a:spcAft>
              <a:buNone/>
            </a:pPr>
            <a:r>
              <a:rPr lang="en-US" sz="1100" b="1" dirty="0">
                <a:solidFill>
                  <a:srgbClr val="C9A84C"/>
                </a:solidFill>
                <a:latin typeface="Calibri" pitchFamily="34" charset="0"/>
                <a:ea typeface="Calibri" pitchFamily="34" charset="-122"/>
                <a:cs typeface="Calibri" pitchFamily="34" charset="-120"/>
              </a:rPr>
              <a:t>Multi-seed robustness: </a:t>
            </a:r>
            <a:pPr indent="0" marL="0">
              <a:spcAft>
                <a:spcPts val="300"/>
              </a:spcAft>
              <a:buNone/>
            </a:pPr>
            <a:r>
              <a:rPr lang="en-US" sz="1100" dirty="0">
                <a:solidFill>
                  <a:srgbClr val="F0F4FA"/>
                </a:solidFill>
                <a:latin typeface="Calibri" pitchFamily="34" charset="0"/>
                <a:ea typeface="Calibri" pitchFamily="34" charset="-122"/>
                <a:cs typeface="Calibri" pitchFamily="34" charset="-120"/>
              </a:rPr>
              <a:t>5 seeds × full retraining → mean ± std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C9A84C"/>
          </a:solidFill>
          <a:ln w="12700">
            <a:solidFill>
              <a:srgbClr val="C9A84C"/>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Model 1 — Logistic Regression with L2</a:t>
            </a:r>
            <a:endParaRPr lang="en-US" sz="2400" dirty="0"/>
          </a:p>
        </p:txBody>
      </p:sp>
      <p:sp>
        <p:nvSpPr>
          <p:cNvPr id="4" name="Shape 2"/>
          <p:cNvSpPr/>
          <p:nvPr/>
        </p:nvSpPr>
        <p:spPr>
          <a:xfrm>
            <a:off x="457200" y="749808"/>
            <a:ext cx="1097280" cy="32004"/>
          </a:xfrm>
          <a:prstGeom prst="rect">
            <a:avLst/>
          </a:prstGeom>
          <a:solidFill>
            <a:srgbClr val="C9A84C"/>
          </a:solidFill>
          <a:ln w="12700">
            <a:solidFill>
              <a:srgbClr val="C9A84C"/>
            </a:solidFill>
            <a:prstDash val="solid"/>
          </a:ln>
        </p:spPr>
      </p:sp>
      <p:sp>
        <p:nvSpPr>
          <p:cNvPr id="5" name="Shape 3"/>
          <p:cNvSpPr/>
          <p:nvPr/>
        </p:nvSpPr>
        <p:spPr>
          <a:xfrm>
            <a:off x="320040" y="960120"/>
            <a:ext cx="5029200" cy="315468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20040" y="960120"/>
            <a:ext cx="1828800" cy="292608"/>
          </a:xfrm>
          <a:prstGeom prst="rect">
            <a:avLst/>
          </a:prstGeom>
          <a:solidFill>
            <a:srgbClr val="7B1E2C"/>
          </a:solidFill>
          <a:ln w="12700">
            <a:solidFill>
              <a:srgbClr val="7B1E2C"/>
            </a:solidFill>
            <a:prstDash val="solid"/>
          </a:ln>
          <a:effectLst>
            <a:outerShdw sx="100000" sy="100000" kx="0" ky="0" algn="bl" rotWithShape="0" blurRad="101600" dist="38100" dir="8100000">
              <a:srgbClr val="000000">
                <a:alpha val="25000"/>
              </a:srgbClr>
            </a:outerShdw>
          </a:effectLst>
        </p:spPr>
      </p:sp>
      <p:sp>
        <p:nvSpPr>
          <p:cNvPr id="7" name="Text 5"/>
          <p:cNvSpPr/>
          <p:nvPr/>
        </p:nvSpPr>
        <p:spPr>
          <a:xfrm>
            <a:off x="320040" y="960120"/>
            <a:ext cx="18288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HOW IT WORKS</a:t>
            </a:r>
            <a:endParaRPr lang="en-US" sz="1000" dirty="0"/>
          </a:p>
        </p:txBody>
      </p:sp>
      <p:sp>
        <p:nvSpPr>
          <p:cNvPr id="8" name="Text 6"/>
          <p:cNvSpPr/>
          <p:nvPr/>
        </p:nvSpPr>
        <p:spPr>
          <a:xfrm>
            <a:off x="502920" y="1353312"/>
            <a:ext cx="4663440" cy="2560320"/>
          </a:xfrm>
          <a:prstGeom prst="rect">
            <a:avLst/>
          </a:prstGeom>
          <a:noFill/>
          <a:ln/>
        </p:spPr>
        <p:txBody>
          <a:bodyPr wrap="square" rtlCol="0" anchor="ctr"/>
          <a:lstStyle/>
          <a:p>
            <a:pPr indent="0" marL="0">
              <a:spcAft>
                <a:spcPts val="500"/>
              </a:spcAft>
              <a:buNone/>
            </a:pPr>
            <a:r>
              <a:rPr lang="en-US" sz="1250" dirty="0">
                <a:solidFill>
                  <a:srgbClr val="F0F4FA"/>
                </a:solidFill>
                <a:latin typeface="Calibri" pitchFamily="34" charset="0"/>
                <a:ea typeface="Calibri" pitchFamily="34" charset="-122"/>
                <a:cs typeface="Calibri" pitchFamily="34" charset="-120"/>
              </a:rPr>
              <a:t>Linear classifier — fits a weighted sum of features
</a:t>
            </a:r>
            <a:pPr indent="0" marL="0">
              <a:spcAft>
                <a:spcPts val="500"/>
              </a:spcAft>
              <a:buNone/>
            </a:pPr>
            <a:r>
              <a:rPr lang="en-US" sz="1250" b="1" dirty="0">
                <a:solidFill>
                  <a:srgbClr val="C9A84C"/>
                </a:solidFill>
                <a:latin typeface="Calibri" pitchFamily="34" charset="0"/>
                <a:ea typeface="Calibri" pitchFamily="34" charset="-122"/>
                <a:cs typeface="Calibri" pitchFamily="34" charset="-120"/>
              </a:rPr>
              <a:t>ŷ = σ(wᵀx + b)
</a:t>
            </a:r>
            <a:endParaRPr lang="en-US" sz="1250" dirty="0"/>
          </a:p>
          <a:p>
            <a:pPr indent="0" marL="0">
              <a:spcAft>
                <a:spcPts val="500"/>
              </a:spcAft>
              <a:buNone/>
            </a:pPr>
            <a:r>
              <a:rPr lang="en-US" sz="1250" b="1" dirty="0">
                <a:solidFill>
                  <a:srgbClr val="C9A84C"/>
                </a:solidFill>
                <a:latin typeface="Calibri" pitchFamily="34" charset="0"/>
                <a:ea typeface="Calibri" pitchFamily="34" charset="-122"/>
                <a:cs typeface="Calibri" pitchFamily="34" charset="-120"/>
              </a:rPr>
              <a:t>L2 penalty: </a:t>
            </a:r>
            <a:pPr indent="0" marL="0">
              <a:spcAft>
                <a:spcPts val="500"/>
              </a:spcAft>
              <a:buNone/>
            </a:pPr>
            <a:r>
              <a:rPr lang="en-US" sz="1250" dirty="0">
                <a:solidFill>
                  <a:srgbClr val="F0F4FA"/>
                </a:solidFill>
                <a:latin typeface="Calibri" pitchFamily="34" charset="0"/>
                <a:ea typeface="Calibri" pitchFamily="34" charset="-122"/>
                <a:cs typeface="Calibri" pitchFamily="34" charset="-120"/>
              </a:rPr>
              <a:t>½C⁻¹ ‖w‖₂² added to cross-entropy
</a:t>
            </a:r>
            <a:endParaRPr lang="en-US" sz="1250" dirty="0"/>
          </a:p>
          <a:p>
            <a:pPr indent="0" marL="0">
              <a:spcAft>
                <a:spcPts val="500"/>
              </a:spcAft>
              <a:buNone/>
            </a:pPr>
            <a:r>
              <a:rPr lang="en-US" sz="1250" dirty="0">
                <a:solidFill>
                  <a:srgbClr val="9BB0CC"/>
                </a:solidFill>
                <a:latin typeface="Calibri" pitchFamily="34" charset="0"/>
                <a:ea typeface="Calibri" pitchFamily="34" charset="-122"/>
                <a:cs typeface="Calibri" pitchFamily="34" charset="-120"/>
              </a:rPr>
              <a:t>Grid search: C × class_weight
</a:t>
            </a:r>
            <a:endParaRPr lang="en-US" sz="1250" dirty="0"/>
          </a:p>
          <a:p>
            <a:pPr indent="0" marL="0">
              <a:spcAft>
                <a:spcPts val="500"/>
              </a:spcAft>
              <a:buNone/>
            </a:pPr>
            <a:r>
              <a:rPr lang="en-US" sz="1250" b="1" dirty="0">
                <a:solidFill>
                  <a:srgbClr val="C9A84C"/>
                </a:solidFill>
                <a:latin typeface="Calibri" pitchFamily="34" charset="0"/>
                <a:ea typeface="Calibri" pitchFamily="34" charset="-122"/>
                <a:cs typeface="Calibri" pitchFamily="34" charset="-120"/>
              </a:rPr>
              <a:t>Best: C = 0.1, class_weight = balanced
</a:t>
            </a:r>
            <a:endParaRPr lang="en-US" sz="1250" dirty="0"/>
          </a:p>
          <a:p>
            <a:pPr indent="0" marL="0">
              <a:spcAft>
                <a:spcPts val="500"/>
              </a:spcAft>
              <a:buNone/>
            </a:pPr>
            <a:r>
              <a:rPr lang="en-US" sz="1250" i="1" dirty="0">
                <a:solidFill>
                  <a:srgbClr val="9BB0CC"/>
                </a:solidFill>
                <a:latin typeface="Calibri" pitchFamily="34" charset="0"/>
                <a:ea typeface="Calibri" pitchFamily="34" charset="-122"/>
                <a:cs typeface="Calibri" pitchFamily="34" charset="-120"/>
              </a:rPr>
              <a:t>Balanced weights compensate for 63/37 imbalance</a:t>
            </a:r>
            <a:endParaRPr lang="en-US" sz="1250" dirty="0"/>
          </a:p>
        </p:txBody>
      </p:sp>
      <p:sp>
        <p:nvSpPr>
          <p:cNvPr id="9" name="Shape 7"/>
          <p:cNvSpPr/>
          <p:nvPr/>
        </p:nvSpPr>
        <p:spPr>
          <a:xfrm>
            <a:off x="5577840" y="960120"/>
            <a:ext cx="3291840" cy="315468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5577840" y="960120"/>
            <a:ext cx="1463040" cy="292608"/>
          </a:xfrm>
          <a:prstGeom prst="rect">
            <a:avLst/>
          </a:prstGeom>
          <a:solidFill>
            <a:srgbClr val="7B1E2C"/>
          </a:solidFill>
          <a:ln w="12700">
            <a:solidFill>
              <a:srgbClr val="7B1E2C"/>
            </a:solidFill>
            <a:prstDash val="solid"/>
          </a:ln>
          <a:effectLst>
            <a:outerShdw sx="100000" sy="100000" kx="0" ky="0" algn="bl" rotWithShape="0" blurRad="101600" dist="38100" dir="8100000">
              <a:srgbClr val="000000">
                <a:alpha val="25000"/>
              </a:srgbClr>
            </a:outerShdw>
          </a:effectLst>
        </p:spPr>
      </p:sp>
      <p:sp>
        <p:nvSpPr>
          <p:cNvPr id="11" name="Text 9"/>
          <p:cNvSpPr/>
          <p:nvPr/>
        </p:nvSpPr>
        <p:spPr>
          <a:xfrm>
            <a:off x="5577840" y="960120"/>
            <a:ext cx="14630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RESULTS</a:t>
            </a:r>
            <a:endParaRPr lang="en-US" sz="1000" dirty="0"/>
          </a:p>
        </p:txBody>
      </p:sp>
      <p:sp>
        <p:nvSpPr>
          <p:cNvPr id="12" name="Text 10"/>
          <p:cNvSpPr/>
          <p:nvPr/>
        </p:nvSpPr>
        <p:spPr>
          <a:xfrm>
            <a:off x="5669280" y="1417320"/>
            <a:ext cx="1828800" cy="384048"/>
          </a:xfrm>
          <a:prstGeom prst="rect">
            <a:avLst/>
          </a:prstGeom>
          <a:noFill/>
          <a:ln/>
        </p:spPr>
        <p:txBody>
          <a:bodyPr wrap="square" lIns="0" tIns="0" rIns="0" bIns="0" rtlCol="0" anchor="ctr"/>
          <a:lstStyle/>
          <a:p>
            <a:pPr indent="0" marL="0">
              <a:buNone/>
            </a:pPr>
            <a:r>
              <a:rPr lang="en-US" sz="1150" dirty="0">
                <a:solidFill>
                  <a:srgbClr val="9BB0CC"/>
                </a:solidFill>
                <a:latin typeface="Calibri" pitchFamily="34" charset="0"/>
                <a:ea typeface="Calibri" pitchFamily="34" charset="-122"/>
                <a:cs typeface="Calibri" pitchFamily="34" charset="-120"/>
              </a:rPr>
              <a:t>Best C</a:t>
            </a:r>
            <a:endParaRPr lang="en-US" sz="1150" dirty="0"/>
          </a:p>
        </p:txBody>
      </p:sp>
      <p:sp>
        <p:nvSpPr>
          <p:cNvPr id="13" name="Text 11"/>
          <p:cNvSpPr/>
          <p:nvPr/>
        </p:nvSpPr>
        <p:spPr>
          <a:xfrm>
            <a:off x="7315200" y="1417320"/>
            <a:ext cx="1463040" cy="384048"/>
          </a:xfrm>
          <a:prstGeom prst="rect">
            <a:avLst/>
          </a:prstGeom>
          <a:noFill/>
          <a:ln/>
        </p:spPr>
        <p:txBody>
          <a:bodyPr wrap="square" lIns="0" tIns="0" rIns="0" bIns="0" rtlCol="0" anchor="ctr"/>
          <a:lstStyle/>
          <a:p>
            <a:pPr algn="r" indent="0" marL="0">
              <a:buNone/>
            </a:pPr>
            <a:r>
              <a:rPr lang="en-US" sz="1350" b="1" dirty="0">
                <a:solidFill>
                  <a:srgbClr val="C9A84C"/>
                </a:solidFill>
                <a:latin typeface="Calibri" pitchFamily="34" charset="0"/>
                <a:ea typeface="Calibri" pitchFamily="34" charset="-122"/>
                <a:cs typeface="Calibri" pitchFamily="34" charset="-120"/>
              </a:rPr>
              <a:t>0.1</a:t>
            </a:r>
            <a:endParaRPr lang="en-US" sz="1350" dirty="0"/>
          </a:p>
        </p:txBody>
      </p:sp>
      <p:sp>
        <p:nvSpPr>
          <p:cNvPr id="14" name="Shape 12"/>
          <p:cNvSpPr/>
          <p:nvPr/>
        </p:nvSpPr>
        <p:spPr>
          <a:xfrm>
            <a:off x="5669280" y="1810512"/>
            <a:ext cx="3017520" cy="0"/>
          </a:xfrm>
          <a:prstGeom prst="line">
            <a:avLst/>
          </a:prstGeom>
          <a:noFill/>
          <a:ln w="12700">
            <a:solidFill>
              <a:srgbClr val="2C3E5A"/>
            </a:solidFill>
            <a:prstDash val="solid"/>
          </a:ln>
        </p:spPr>
      </p:sp>
      <p:sp>
        <p:nvSpPr>
          <p:cNvPr id="15" name="Text 13"/>
          <p:cNvSpPr/>
          <p:nvPr/>
        </p:nvSpPr>
        <p:spPr>
          <a:xfrm>
            <a:off x="5669280" y="1911096"/>
            <a:ext cx="1828800" cy="384048"/>
          </a:xfrm>
          <a:prstGeom prst="rect">
            <a:avLst/>
          </a:prstGeom>
          <a:noFill/>
          <a:ln/>
        </p:spPr>
        <p:txBody>
          <a:bodyPr wrap="square" lIns="0" tIns="0" rIns="0" bIns="0" rtlCol="0" anchor="ctr"/>
          <a:lstStyle/>
          <a:p>
            <a:pPr indent="0" marL="0">
              <a:buNone/>
            </a:pPr>
            <a:r>
              <a:rPr lang="en-US" sz="1150" dirty="0">
                <a:solidFill>
                  <a:srgbClr val="9BB0CC"/>
                </a:solidFill>
                <a:latin typeface="Calibri" pitchFamily="34" charset="0"/>
                <a:ea typeface="Calibri" pitchFamily="34" charset="-122"/>
                <a:cs typeface="Calibri" pitchFamily="34" charset="-120"/>
              </a:rPr>
              <a:t>class_weight</a:t>
            </a:r>
            <a:endParaRPr lang="en-US" sz="1150" dirty="0"/>
          </a:p>
        </p:txBody>
      </p:sp>
      <p:sp>
        <p:nvSpPr>
          <p:cNvPr id="16" name="Text 14"/>
          <p:cNvSpPr/>
          <p:nvPr/>
        </p:nvSpPr>
        <p:spPr>
          <a:xfrm>
            <a:off x="7315200" y="1911096"/>
            <a:ext cx="1463040" cy="384048"/>
          </a:xfrm>
          <a:prstGeom prst="rect">
            <a:avLst/>
          </a:prstGeom>
          <a:noFill/>
          <a:ln/>
        </p:spPr>
        <p:txBody>
          <a:bodyPr wrap="square" lIns="0" tIns="0" rIns="0" bIns="0" rtlCol="0" anchor="ctr"/>
          <a:lstStyle/>
          <a:p>
            <a:pPr algn="r" indent="0" marL="0">
              <a:buNone/>
            </a:pPr>
            <a:r>
              <a:rPr lang="en-US" sz="1350" b="1" dirty="0">
                <a:solidFill>
                  <a:srgbClr val="C9A84C"/>
                </a:solidFill>
                <a:latin typeface="Calibri" pitchFamily="34" charset="0"/>
                <a:ea typeface="Calibri" pitchFamily="34" charset="-122"/>
                <a:cs typeface="Calibri" pitchFamily="34" charset="-120"/>
              </a:rPr>
              <a:t>balanced</a:t>
            </a:r>
            <a:endParaRPr lang="en-US" sz="1350" dirty="0"/>
          </a:p>
        </p:txBody>
      </p:sp>
      <p:sp>
        <p:nvSpPr>
          <p:cNvPr id="17" name="Shape 15"/>
          <p:cNvSpPr/>
          <p:nvPr/>
        </p:nvSpPr>
        <p:spPr>
          <a:xfrm>
            <a:off x="5669280" y="2304288"/>
            <a:ext cx="3017520" cy="0"/>
          </a:xfrm>
          <a:prstGeom prst="line">
            <a:avLst/>
          </a:prstGeom>
          <a:noFill/>
          <a:ln w="12700">
            <a:solidFill>
              <a:srgbClr val="2C3E5A"/>
            </a:solidFill>
            <a:prstDash val="solid"/>
          </a:ln>
        </p:spPr>
      </p:sp>
      <p:sp>
        <p:nvSpPr>
          <p:cNvPr id="18" name="Text 16"/>
          <p:cNvSpPr/>
          <p:nvPr/>
        </p:nvSpPr>
        <p:spPr>
          <a:xfrm>
            <a:off x="5669280" y="2404872"/>
            <a:ext cx="1828800" cy="384048"/>
          </a:xfrm>
          <a:prstGeom prst="rect">
            <a:avLst/>
          </a:prstGeom>
          <a:noFill/>
          <a:ln/>
        </p:spPr>
        <p:txBody>
          <a:bodyPr wrap="square" lIns="0" tIns="0" rIns="0" bIns="0" rtlCol="0" anchor="ctr"/>
          <a:lstStyle/>
          <a:p>
            <a:pPr indent="0" marL="0">
              <a:buNone/>
            </a:pPr>
            <a:r>
              <a:rPr lang="en-US" sz="1150" dirty="0">
                <a:solidFill>
                  <a:srgbClr val="9BB0CC"/>
                </a:solidFill>
                <a:latin typeface="Calibri" pitchFamily="34" charset="0"/>
                <a:ea typeface="Calibri" pitchFamily="34" charset="-122"/>
                <a:cs typeface="Calibri" pitchFamily="34" charset="-120"/>
              </a:rPr>
              <a:t>CV AUC</a:t>
            </a:r>
            <a:endParaRPr lang="en-US" sz="1150" dirty="0"/>
          </a:p>
        </p:txBody>
      </p:sp>
      <p:sp>
        <p:nvSpPr>
          <p:cNvPr id="19" name="Text 17"/>
          <p:cNvSpPr/>
          <p:nvPr/>
        </p:nvSpPr>
        <p:spPr>
          <a:xfrm>
            <a:off x="7315200" y="2404872"/>
            <a:ext cx="1463040" cy="384048"/>
          </a:xfrm>
          <a:prstGeom prst="rect">
            <a:avLst/>
          </a:prstGeom>
          <a:noFill/>
          <a:ln/>
        </p:spPr>
        <p:txBody>
          <a:bodyPr wrap="square" lIns="0" tIns="0" rIns="0" bIns="0" rtlCol="0" anchor="ctr"/>
          <a:lstStyle/>
          <a:p>
            <a:pPr algn="r" indent="0" marL="0">
              <a:buNone/>
            </a:pPr>
            <a:r>
              <a:rPr lang="en-US" sz="1350" b="1" dirty="0">
                <a:solidFill>
                  <a:srgbClr val="C9A84C"/>
                </a:solidFill>
                <a:latin typeface="Calibri" pitchFamily="34" charset="0"/>
                <a:ea typeface="Calibri" pitchFamily="34" charset="-122"/>
                <a:cs typeface="Calibri" pitchFamily="34" charset="-120"/>
              </a:rPr>
              <a:t>0.7999</a:t>
            </a:r>
            <a:endParaRPr lang="en-US" sz="1350" dirty="0"/>
          </a:p>
        </p:txBody>
      </p:sp>
      <p:sp>
        <p:nvSpPr>
          <p:cNvPr id="20" name="Shape 18"/>
          <p:cNvSpPr/>
          <p:nvPr/>
        </p:nvSpPr>
        <p:spPr>
          <a:xfrm>
            <a:off x="5669280" y="2798064"/>
            <a:ext cx="3017520" cy="0"/>
          </a:xfrm>
          <a:prstGeom prst="line">
            <a:avLst/>
          </a:prstGeom>
          <a:noFill/>
          <a:ln w="12700">
            <a:solidFill>
              <a:srgbClr val="2C3E5A"/>
            </a:solidFill>
            <a:prstDash val="solid"/>
          </a:ln>
        </p:spPr>
      </p:sp>
      <p:sp>
        <p:nvSpPr>
          <p:cNvPr id="21" name="Text 19"/>
          <p:cNvSpPr/>
          <p:nvPr/>
        </p:nvSpPr>
        <p:spPr>
          <a:xfrm>
            <a:off x="5669280" y="2898648"/>
            <a:ext cx="1828800" cy="384048"/>
          </a:xfrm>
          <a:prstGeom prst="rect">
            <a:avLst/>
          </a:prstGeom>
          <a:noFill/>
          <a:ln/>
        </p:spPr>
        <p:txBody>
          <a:bodyPr wrap="square" lIns="0" tIns="0" rIns="0" bIns="0" rtlCol="0" anchor="ctr"/>
          <a:lstStyle/>
          <a:p>
            <a:pPr indent="0" marL="0">
              <a:buNone/>
            </a:pPr>
            <a:r>
              <a:rPr lang="en-US" sz="1150" dirty="0">
                <a:solidFill>
                  <a:srgbClr val="9BB0CC"/>
                </a:solidFill>
                <a:latin typeface="Calibri" pitchFamily="34" charset="0"/>
                <a:ea typeface="Calibri" pitchFamily="34" charset="-122"/>
                <a:cs typeface="Calibri" pitchFamily="34" charset="-120"/>
              </a:rPr>
              <a:t>Test AUC</a:t>
            </a:r>
            <a:endParaRPr lang="en-US" sz="1150" dirty="0"/>
          </a:p>
        </p:txBody>
      </p:sp>
      <p:sp>
        <p:nvSpPr>
          <p:cNvPr id="22" name="Text 20"/>
          <p:cNvSpPr/>
          <p:nvPr/>
        </p:nvSpPr>
        <p:spPr>
          <a:xfrm>
            <a:off x="7315200" y="2898648"/>
            <a:ext cx="1463040" cy="384048"/>
          </a:xfrm>
          <a:prstGeom prst="rect">
            <a:avLst/>
          </a:prstGeom>
          <a:noFill/>
          <a:ln/>
        </p:spPr>
        <p:txBody>
          <a:bodyPr wrap="square" lIns="0" tIns="0" rIns="0" bIns="0" rtlCol="0" anchor="ctr"/>
          <a:lstStyle/>
          <a:p>
            <a:pPr algn="r" indent="0" marL="0">
              <a:buNone/>
            </a:pPr>
            <a:r>
              <a:rPr lang="en-US" sz="1350" b="1" dirty="0">
                <a:solidFill>
                  <a:srgbClr val="C9A84C"/>
                </a:solidFill>
                <a:latin typeface="Calibri" pitchFamily="34" charset="0"/>
                <a:ea typeface="Calibri" pitchFamily="34" charset="-122"/>
                <a:cs typeface="Calibri" pitchFamily="34" charset="-120"/>
              </a:rPr>
              <a:t>0.8161</a:t>
            </a:r>
            <a:endParaRPr lang="en-US" sz="1350" dirty="0"/>
          </a:p>
        </p:txBody>
      </p:sp>
      <p:sp>
        <p:nvSpPr>
          <p:cNvPr id="23" name="Shape 21"/>
          <p:cNvSpPr/>
          <p:nvPr/>
        </p:nvSpPr>
        <p:spPr>
          <a:xfrm>
            <a:off x="5669280" y="3291840"/>
            <a:ext cx="3017520" cy="0"/>
          </a:xfrm>
          <a:prstGeom prst="line">
            <a:avLst/>
          </a:prstGeom>
          <a:noFill/>
          <a:ln w="12700">
            <a:solidFill>
              <a:srgbClr val="2C3E5A"/>
            </a:solidFill>
            <a:prstDash val="solid"/>
          </a:ln>
        </p:spPr>
      </p:sp>
      <p:sp>
        <p:nvSpPr>
          <p:cNvPr id="24" name="Text 22"/>
          <p:cNvSpPr/>
          <p:nvPr/>
        </p:nvSpPr>
        <p:spPr>
          <a:xfrm>
            <a:off x="5669280" y="3392424"/>
            <a:ext cx="1828800" cy="384048"/>
          </a:xfrm>
          <a:prstGeom prst="rect">
            <a:avLst/>
          </a:prstGeom>
          <a:noFill/>
          <a:ln/>
        </p:spPr>
        <p:txBody>
          <a:bodyPr wrap="square" lIns="0" tIns="0" rIns="0" bIns="0" rtlCol="0" anchor="ctr"/>
          <a:lstStyle/>
          <a:p>
            <a:pPr indent="0" marL="0">
              <a:buNone/>
            </a:pPr>
            <a:r>
              <a:rPr lang="en-US" sz="1150" dirty="0">
                <a:solidFill>
                  <a:srgbClr val="9BB0CC"/>
                </a:solidFill>
                <a:latin typeface="Calibri" pitchFamily="34" charset="0"/>
                <a:ea typeface="Calibri" pitchFamily="34" charset="-122"/>
                <a:cs typeface="Calibri" pitchFamily="34" charset="-120"/>
              </a:rPr>
              <a:t>Test PR-AUC</a:t>
            </a:r>
            <a:endParaRPr lang="en-US" sz="1150" dirty="0"/>
          </a:p>
        </p:txBody>
      </p:sp>
      <p:sp>
        <p:nvSpPr>
          <p:cNvPr id="25" name="Text 23"/>
          <p:cNvSpPr/>
          <p:nvPr/>
        </p:nvSpPr>
        <p:spPr>
          <a:xfrm>
            <a:off x="7315200" y="3392424"/>
            <a:ext cx="1463040" cy="384048"/>
          </a:xfrm>
          <a:prstGeom prst="rect">
            <a:avLst/>
          </a:prstGeom>
          <a:noFill/>
          <a:ln/>
        </p:spPr>
        <p:txBody>
          <a:bodyPr wrap="square" lIns="0" tIns="0" rIns="0" bIns="0" rtlCol="0" anchor="ctr"/>
          <a:lstStyle/>
          <a:p>
            <a:pPr algn="r" indent="0" marL="0">
              <a:buNone/>
            </a:pPr>
            <a:r>
              <a:rPr lang="en-US" sz="1350" b="1" dirty="0">
                <a:solidFill>
                  <a:srgbClr val="C9A84C"/>
                </a:solidFill>
                <a:latin typeface="Calibri" pitchFamily="34" charset="0"/>
                <a:ea typeface="Calibri" pitchFamily="34" charset="-122"/>
                <a:cs typeface="Calibri" pitchFamily="34" charset="-120"/>
              </a:rPr>
              <a:t>0.8922</a:t>
            </a:r>
            <a:endParaRPr lang="en-US" sz="1350" dirty="0"/>
          </a:p>
        </p:txBody>
      </p:sp>
      <p:sp>
        <p:nvSpPr>
          <p:cNvPr id="26" name="Shape 24"/>
          <p:cNvSpPr/>
          <p:nvPr/>
        </p:nvSpPr>
        <p:spPr>
          <a:xfrm>
            <a:off x="320040" y="4206240"/>
            <a:ext cx="8503920" cy="658368"/>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27" name="Text 25"/>
          <p:cNvSpPr/>
          <p:nvPr/>
        </p:nvSpPr>
        <p:spPr>
          <a:xfrm>
            <a:off x="457200" y="4261104"/>
            <a:ext cx="8229600" cy="530352"/>
          </a:xfrm>
          <a:prstGeom prst="rect">
            <a:avLst/>
          </a:prstGeom>
          <a:noFill/>
          <a:ln/>
        </p:spPr>
        <p:txBody>
          <a:bodyPr wrap="square" lIns="0" tIns="0" rIns="0" bIns="0" rtlCol="0" anchor="ctr"/>
          <a:lstStyle/>
          <a:p>
            <a:pPr indent="0" marL="0">
              <a:buNone/>
            </a:pPr>
            <a:r>
              <a:rPr lang="en-US" sz="1150" b="1" dirty="0">
                <a:solidFill>
                  <a:srgbClr val="C9A84C"/>
                </a:solidFill>
                <a:latin typeface="Calibri" pitchFamily="34" charset="0"/>
                <a:ea typeface="Calibri" pitchFamily="34" charset="-122"/>
                <a:cs typeface="Calibri" pitchFamily="34" charset="-120"/>
              </a:rPr>
              <a:t>Why appropriate: </a:t>
            </a:r>
            <a:pPr indent="0" marL="0">
              <a:buNone/>
            </a:pPr>
            <a:r>
              <a:rPr lang="en-US" sz="1150" dirty="0">
                <a:solidFill>
                  <a:srgbClr val="F0F4FA"/>
                </a:solidFill>
                <a:latin typeface="Calibri" pitchFamily="34" charset="0"/>
                <a:ea typeface="Calibri" pitchFamily="34" charset="-122"/>
                <a:cs typeface="Calibri" pitchFamily="34" charset="-120"/>
              </a:rPr>
              <a:t>Interpretable linear baseline. Coefficient magnitudes directly quantify each feature's influence on quality. Establishes the upper bound of linear separability.</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7B1E2C"/>
          </a:solidFill>
          <a:ln w="12700">
            <a:solidFill>
              <a:srgbClr val="7B1E2C"/>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Model 2 — Support Vector Machine (RBF Kernel)</a:t>
            </a:r>
            <a:endParaRPr lang="en-US" sz="2400" dirty="0"/>
          </a:p>
        </p:txBody>
      </p:sp>
      <p:sp>
        <p:nvSpPr>
          <p:cNvPr id="4" name="Shape 2"/>
          <p:cNvSpPr/>
          <p:nvPr/>
        </p:nvSpPr>
        <p:spPr>
          <a:xfrm>
            <a:off x="457200" y="749808"/>
            <a:ext cx="1097280" cy="32004"/>
          </a:xfrm>
          <a:prstGeom prst="rect">
            <a:avLst/>
          </a:prstGeom>
          <a:solidFill>
            <a:srgbClr val="C9A84C"/>
          </a:solidFill>
          <a:ln w="12700">
            <a:solidFill>
              <a:srgbClr val="C9A84C"/>
            </a:solidFill>
            <a:prstDash val="solid"/>
          </a:ln>
        </p:spPr>
      </p:sp>
      <p:sp>
        <p:nvSpPr>
          <p:cNvPr id="5" name="Shape 3"/>
          <p:cNvSpPr/>
          <p:nvPr/>
        </p:nvSpPr>
        <p:spPr>
          <a:xfrm>
            <a:off x="320040" y="960120"/>
            <a:ext cx="5029200" cy="315468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20040" y="960120"/>
            <a:ext cx="1828800" cy="292608"/>
          </a:xfrm>
          <a:prstGeom prst="rect">
            <a:avLst/>
          </a:prstGeom>
          <a:solidFill>
            <a:srgbClr val="7B1E2C"/>
          </a:solidFill>
          <a:ln w="12700">
            <a:solidFill>
              <a:srgbClr val="7B1E2C"/>
            </a:solidFill>
            <a:prstDash val="solid"/>
          </a:ln>
          <a:effectLst>
            <a:outerShdw sx="100000" sy="100000" kx="0" ky="0" algn="bl" rotWithShape="0" blurRad="101600" dist="38100" dir="8100000">
              <a:srgbClr val="000000">
                <a:alpha val="25000"/>
              </a:srgbClr>
            </a:outerShdw>
          </a:effectLst>
        </p:spPr>
      </p:sp>
      <p:sp>
        <p:nvSpPr>
          <p:cNvPr id="7" name="Text 5"/>
          <p:cNvSpPr/>
          <p:nvPr/>
        </p:nvSpPr>
        <p:spPr>
          <a:xfrm>
            <a:off x="320040" y="960120"/>
            <a:ext cx="18288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HOW IT WORKS</a:t>
            </a:r>
            <a:endParaRPr lang="en-US" sz="1000" dirty="0"/>
          </a:p>
        </p:txBody>
      </p:sp>
      <p:sp>
        <p:nvSpPr>
          <p:cNvPr id="8" name="Text 6"/>
          <p:cNvSpPr/>
          <p:nvPr/>
        </p:nvSpPr>
        <p:spPr>
          <a:xfrm>
            <a:off x="502920" y="1353312"/>
            <a:ext cx="4663440" cy="2560320"/>
          </a:xfrm>
          <a:prstGeom prst="rect">
            <a:avLst/>
          </a:prstGeom>
          <a:noFill/>
          <a:ln/>
        </p:spPr>
        <p:txBody>
          <a:bodyPr wrap="square" rtlCol="0" anchor="ctr"/>
          <a:lstStyle/>
          <a:p>
            <a:pPr indent="0" marL="0">
              <a:spcAft>
                <a:spcPts val="500"/>
              </a:spcAft>
              <a:buNone/>
            </a:pPr>
            <a:r>
              <a:rPr lang="en-US" sz="1200" b="1" dirty="0">
                <a:solidFill>
                  <a:srgbClr val="C9A84C"/>
                </a:solidFill>
                <a:latin typeface="Calibri" pitchFamily="34" charset="0"/>
                <a:ea typeface="Calibri" pitchFamily="34" charset="-122"/>
                <a:cs typeface="Calibri" pitchFamily="34" charset="-120"/>
              </a:rPr>
              <a:t>RBF kernel: k(x, x') = exp(−γ‖x − x'‖²)
</a:t>
            </a:r>
            <a:endParaRPr lang="en-US" sz="1200" dirty="0"/>
          </a:p>
          <a:p>
            <a:pPr indent="0" marL="0">
              <a:spcAft>
                <a:spcPts val="500"/>
              </a:spcAft>
              <a:buNone/>
            </a:pPr>
            <a:r>
              <a:rPr lang="en-US" sz="1200" dirty="0">
                <a:solidFill>
                  <a:srgbClr val="F0F4FA"/>
                </a:solidFill>
                <a:latin typeface="Calibri" pitchFamily="34" charset="0"/>
                <a:ea typeface="Calibri" pitchFamily="34" charset="-122"/>
                <a:cs typeface="Calibri" pitchFamily="34" charset="-120"/>
              </a:rPr>
              <a:t>Maps inputs into high-dim space implicitly
</a:t>
            </a:r>
            <a:endParaRPr lang="en-US" sz="1200" dirty="0"/>
          </a:p>
          <a:p>
            <a:pPr indent="0" marL="0">
              <a:spcAft>
                <a:spcPts val="500"/>
              </a:spcAft>
              <a:buNone/>
            </a:pPr>
            <a:r>
              <a:rPr lang="en-US" sz="1200" dirty="0">
                <a:solidFill>
                  <a:srgbClr val="9BB0CC"/>
                </a:solidFill>
                <a:latin typeface="Calibri" pitchFamily="34" charset="0"/>
                <a:ea typeface="Calibri" pitchFamily="34" charset="-122"/>
                <a:cs typeface="Calibri" pitchFamily="34" charset="-120"/>
              </a:rPr>
              <a:t>Finds maximum-margin hyperplane in kernel space
</a:t>
            </a:r>
            <a:endParaRPr lang="en-US" sz="1200" dirty="0"/>
          </a:p>
          <a:p>
            <a:pPr indent="0" marL="0">
              <a:spcAft>
                <a:spcPts val="500"/>
              </a:spcAft>
              <a:buNone/>
            </a:pPr>
            <a:r>
              <a:rPr lang="en-US" sz="1200" dirty="0">
                <a:solidFill>
                  <a:srgbClr val="9BB0CC"/>
                </a:solidFill>
                <a:latin typeface="Calibri" pitchFamily="34" charset="0"/>
                <a:ea typeface="Calibri" pitchFamily="34" charset="-122"/>
                <a:cs typeface="Calibri" pitchFamily="34" charset="-120"/>
              </a:rPr>
              <a:t>Grid: C × γ × class_weight
</a:t>
            </a:r>
            <a:endParaRPr lang="en-US" sz="1200" dirty="0"/>
          </a:p>
          <a:p>
            <a:pPr indent="0" marL="0">
              <a:spcAft>
                <a:spcPts val="500"/>
              </a:spcAft>
              <a:buNone/>
            </a:pPr>
            <a:r>
              <a:rPr lang="en-US" sz="1200" b="1" dirty="0">
                <a:solidFill>
                  <a:srgbClr val="C9A84C"/>
                </a:solidFill>
                <a:latin typeface="Calibri" pitchFamily="34" charset="0"/>
                <a:ea typeface="Calibri" pitchFamily="34" charset="-122"/>
                <a:cs typeface="Calibri" pitchFamily="34" charset="-120"/>
              </a:rPr>
              <a:t>Best: C = 1, γ = 0.1, class_weight = balanced
</a:t>
            </a:r>
            <a:endParaRPr lang="en-US" sz="1200" dirty="0"/>
          </a:p>
          <a:p>
            <a:pPr indent="0" marL="0">
              <a:spcAft>
                <a:spcPts val="500"/>
              </a:spcAft>
              <a:buNone/>
            </a:pPr>
            <a:r>
              <a:rPr lang="en-US" sz="1200" i="1" dirty="0">
                <a:solidFill>
                  <a:srgbClr val="9BB0CC"/>
                </a:solidFill>
                <a:latin typeface="Calibri" pitchFamily="34" charset="0"/>
                <a:ea typeface="Calibri" pitchFamily="34" charset="-122"/>
                <a:cs typeface="Calibri" pitchFamily="34" charset="-120"/>
              </a:rPr>
              <a:t>CV AUC jumps from 0.822 (no cw) to 0.828 with balanced cw</a:t>
            </a:r>
            <a:endParaRPr lang="en-US" sz="1200" dirty="0"/>
          </a:p>
        </p:txBody>
      </p:sp>
      <p:sp>
        <p:nvSpPr>
          <p:cNvPr id="9" name="Shape 7"/>
          <p:cNvSpPr/>
          <p:nvPr/>
        </p:nvSpPr>
        <p:spPr>
          <a:xfrm>
            <a:off x="5577840" y="960120"/>
            <a:ext cx="3291840" cy="315468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5577840" y="960120"/>
            <a:ext cx="1463040" cy="292608"/>
          </a:xfrm>
          <a:prstGeom prst="rect">
            <a:avLst/>
          </a:prstGeom>
          <a:solidFill>
            <a:srgbClr val="7B1E2C"/>
          </a:solidFill>
          <a:ln w="12700">
            <a:solidFill>
              <a:srgbClr val="7B1E2C"/>
            </a:solidFill>
            <a:prstDash val="solid"/>
          </a:ln>
          <a:effectLst>
            <a:outerShdw sx="100000" sy="100000" kx="0" ky="0" algn="bl" rotWithShape="0" blurRad="101600" dist="38100" dir="8100000">
              <a:srgbClr val="000000">
                <a:alpha val="25000"/>
              </a:srgbClr>
            </a:outerShdw>
          </a:effectLst>
        </p:spPr>
      </p:sp>
      <p:sp>
        <p:nvSpPr>
          <p:cNvPr id="11" name="Text 9"/>
          <p:cNvSpPr/>
          <p:nvPr/>
        </p:nvSpPr>
        <p:spPr>
          <a:xfrm>
            <a:off x="5577840" y="960120"/>
            <a:ext cx="14630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RESULTS</a:t>
            </a:r>
            <a:endParaRPr lang="en-US" sz="1000" dirty="0"/>
          </a:p>
        </p:txBody>
      </p:sp>
      <p:sp>
        <p:nvSpPr>
          <p:cNvPr id="12" name="Text 10"/>
          <p:cNvSpPr/>
          <p:nvPr/>
        </p:nvSpPr>
        <p:spPr>
          <a:xfrm>
            <a:off x="5669280" y="1417320"/>
            <a:ext cx="1828800" cy="384048"/>
          </a:xfrm>
          <a:prstGeom prst="rect">
            <a:avLst/>
          </a:prstGeom>
          <a:noFill/>
          <a:ln/>
        </p:spPr>
        <p:txBody>
          <a:bodyPr wrap="square" lIns="0" tIns="0" rIns="0" bIns="0" rtlCol="0" anchor="ctr"/>
          <a:lstStyle/>
          <a:p>
            <a:pPr indent="0" marL="0">
              <a:buNone/>
            </a:pPr>
            <a:r>
              <a:rPr lang="en-US" sz="1150" dirty="0">
                <a:solidFill>
                  <a:srgbClr val="9BB0CC"/>
                </a:solidFill>
                <a:latin typeface="Calibri" pitchFamily="34" charset="0"/>
                <a:ea typeface="Calibri" pitchFamily="34" charset="-122"/>
                <a:cs typeface="Calibri" pitchFamily="34" charset="-120"/>
              </a:rPr>
              <a:t>Best C</a:t>
            </a:r>
            <a:endParaRPr lang="en-US" sz="1150" dirty="0"/>
          </a:p>
        </p:txBody>
      </p:sp>
      <p:sp>
        <p:nvSpPr>
          <p:cNvPr id="13" name="Text 11"/>
          <p:cNvSpPr/>
          <p:nvPr/>
        </p:nvSpPr>
        <p:spPr>
          <a:xfrm>
            <a:off x="7315200" y="1417320"/>
            <a:ext cx="1463040" cy="384048"/>
          </a:xfrm>
          <a:prstGeom prst="rect">
            <a:avLst/>
          </a:prstGeom>
          <a:noFill/>
          <a:ln/>
        </p:spPr>
        <p:txBody>
          <a:bodyPr wrap="square" lIns="0" tIns="0" rIns="0" bIns="0" rtlCol="0" anchor="ctr"/>
          <a:lstStyle/>
          <a:p>
            <a:pPr algn="r" indent="0" marL="0">
              <a:buNone/>
            </a:pPr>
            <a:r>
              <a:rPr lang="en-US" sz="1350" b="1" dirty="0">
                <a:solidFill>
                  <a:srgbClr val="C9A84C"/>
                </a:solidFill>
                <a:latin typeface="Calibri" pitchFamily="34" charset="0"/>
                <a:ea typeface="Calibri" pitchFamily="34" charset="-122"/>
                <a:cs typeface="Calibri" pitchFamily="34" charset="-120"/>
              </a:rPr>
              <a:t>1</a:t>
            </a:r>
            <a:endParaRPr lang="en-US" sz="1350" dirty="0"/>
          </a:p>
        </p:txBody>
      </p:sp>
      <p:sp>
        <p:nvSpPr>
          <p:cNvPr id="14" name="Shape 12"/>
          <p:cNvSpPr/>
          <p:nvPr/>
        </p:nvSpPr>
        <p:spPr>
          <a:xfrm>
            <a:off x="5669280" y="1810512"/>
            <a:ext cx="3017520" cy="0"/>
          </a:xfrm>
          <a:prstGeom prst="line">
            <a:avLst/>
          </a:prstGeom>
          <a:noFill/>
          <a:ln w="12700">
            <a:solidFill>
              <a:srgbClr val="2C3E5A"/>
            </a:solidFill>
            <a:prstDash val="solid"/>
          </a:ln>
        </p:spPr>
      </p:sp>
      <p:sp>
        <p:nvSpPr>
          <p:cNvPr id="15" name="Text 13"/>
          <p:cNvSpPr/>
          <p:nvPr/>
        </p:nvSpPr>
        <p:spPr>
          <a:xfrm>
            <a:off x="5669280" y="1911096"/>
            <a:ext cx="1828800" cy="384048"/>
          </a:xfrm>
          <a:prstGeom prst="rect">
            <a:avLst/>
          </a:prstGeom>
          <a:noFill/>
          <a:ln/>
        </p:spPr>
        <p:txBody>
          <a:bodyPr wrap="square" lIns="0" tIns="0" rIns="0" bIns="0" rtlCol="0" anchor="ctr"/>
          <a:lstStyle/>
          <a:p>
            <a:pPr indent="0" marL="0">
              <a:buNone/>
            </a:pPr>
            <a:r>
              <a:rPr lang="en-US" sz="1150" dirty="0">
                <a:solidFill>
                  <a:srgbClr val="9BB0CC"/>
                </a:solidFill>
                <a:latin typeface="Calibri" pitchFamily="34" charset="0"/>
                <a:ea typeface="Calibri" pitchFamily="34" charset="-122"/>
                <a:cs typeface="Calibri" pitchFamily="34" charset="-120"/>
              </a:rPr>
              <a:t>Best γ</a:t>
            </a:r>
            <a:endParaRPr lang="en-US" sz="1150" dirty="0"/>
          </a:p>
        </p:txBody>
      </p:sp>
      <p:sp>
        <p:nvSpPr>
          <p:cNvPr id="16" name="Text 14"/>
          <p:cNvSpPr/>
          <p:nvPr/>
        </p:nvSpPr>
        <p:spPr>
          <a:xfrm>
            <a:off x="7315200" y="1911096"/>
            <a:ext cx="1463040" cy="384048"/>
          </a:xfrm>
          <a:prstGeom prst="rect">
            <a:avLst/>
          </a:prstGeom>
          <a:noFill/>
          <a:ln/>
        </p:spPr>
        <p:txBody>
          <a:bodyPr wrap="square" lIns="0" tIns="0" rIns="0" bIns="0" rtlCol="0" anchor="ctr"/>
          <a:lstStyle/>
          <a:p>
            <a:pPr algn="r" indent="0" marL="0">
              <a:buNone/>
            </a:pPr>
            <a:r>
              <a:rPr lang="en-US" sz="1350" b="1" dirty="0">
                <a:solidFill>
                  <a:srgbClr val="C9A84C"/>
                </a:solidFill>
                <a:latin typeface="Calibri" pitchFamily="34" charset="0"/>
                <a:ea typeface="Calibri" pitchFamily="34" charset="-122"/>
                <a:cs typeface="Calibri" pitchFamily="34" charset="-120"/>
              </a:rPr>
              <a:t>0.1</a:t>
            </a:r>
            <a:endParaRPr lang="en-US" sz="1350" dirty="0"/>
          </a:p>
        </p:txBody>
      </p:sp>
      <p:sp>
        <p:nvSpPr>
          <p:cNvPr id="17" name="Shape 15"/>
          <p:cNvSpPr/>
          <p:nvPr/>
        </p:nvSpPr>
        <p:spPr>
          <a:xfrm>
            <a:off x="5669280" y="2304288"/>
            <a:ext cx="3017520" cy="0"/>
          </a:xfrm>
          <a:prstGeom prst="line">
            <a:avLst/>
          </a:prstGeom>
          <a:noFill/>
          <a:ln w="12700">
            <a:solidFill>
              <a:srgbClr val="2C3E5A"/>
            </a:solidFill>
            <a:prstDash val="solid"/>
          </a:ln>
        </p:spPr>
      </p:sp>
      <p:sp>
        <p:nvSpPr>
          <p:cNvPr id="18" name="Text 16"/>
          <p:cNvSpPr/>
          <p:nvPr/>
        </p:nvSpPr>
        <p:spPr>
          <a:xfrm>
            <a:off x="5669280" y="2404872"/>
            <a:ext cx="1828800" cy="384048"/>
          </a:xfrm>
          <a:prstGeom prst="rect">
            <a:avLst/>
          </a:prstGeom>
          <a:noFill/>
          <a:ln/>
        </p:spPr>
        <p:txBody>
          <a:bodyPr wrap="square" lIns="0" tIns="0" rIns="0" bIns="0" rtlCol="0" anchor="ctr"/>
          <a:lstStyle/>
          <a:p>
            <a:pPr indent="0" marL="0">
              <a:buNone/>
            </a:pPr>
            <a:r>
              <a:rPr lang="en-US" sz="1150" dirty="0">
                <a:solidFill>
                  <a:srgbClr val="9BB0CC"/>
                </a:solidFill>
                <a:latin typeface="Calibri" pitchFamily="34" charset="0"/>
                <a:ea typeface="Calibri" pitchFamily="34" charset="-122"/>
                <a:cs typeface="Calibri" pitchFamily="34" charset="-120"/>
              </a:rPr>
              <a:t>class_weight</a:t>
            </a:r>
            <a:endParaRPr lang="en-US" sz="1150" dirty="0"/>
          </a:p>
        </p:txBody>
      </p:sp>
      <p:sp>
        <p:nvSpPr>
          <p:cNvPr id="19" name="Text 17"/>
          <p:cNvSpPr/>
          <p:nvPr/>
        </p:nvSpPr>
        <p:spPr>
          <a:xfrm>
            <a:off x="7315200" y="2404872"/>
            <a:ext cx="1463040" cy="384048"/>
          </a:xfrm>
          <a:prstGeom prst="rect">
            <a:avLst/>
          </a:prstGeom>
          <a:noFill/>
          <a:ln/>
        </p:spPr>
        <p:txBody>
          <a:bodyPr wrap="square" lIns="0" tIns="0" rIns="0" bIns="0" rtlCol="0" anchor="ctr"/>
          <a:lstStyle/>
          <a:p>
            <a:pPr algn="r" indent="0" marL="0">
              <a:buNone/>
            </a:pPr>
            <a:r>
              <a:rPr lang="en-US" sz="1350" b="1" dirty="0">
                <a:solidFill>
                  <a:srgbClr val="C9A84C"/>
                </a:solidFill>
                <a:latin typeface="Calibri" pitchFamily="34" charset="0"/>
                <a:ea typeface="Calibri" pitchFamily="34" charset="-122"/>
                <a:cs typeface="Calibri" pitchFamily="34" charset="-120"/>
              </a:rPr>
              <a:t>balanced</a:t>
            </a:r>
            <a:endParaRPr lang="en-US" sz="1350" dirty="0"/>
          </a:p>
        </p:txBody>
      </p:sp>
      <p:sp>
        <p:nvSpPr>
          <p:cNvPr id="20" name="Shape 18"/>
          <p:cNvSpPr/>
          <p:nvPr/>
        </p:nvSpPr>
        <p:spPr>
          <a:xfrm>
            <a:off x="5669280" y="2798064"/>
            <a:ext cx="3017520" cy="0"/>
          </a:xfrm>
          <a:prstGeom prst="line">
            <a:avLst/>
          </a:prstGeom>
          <a:noFill/>
          <a:ln w="12700">
            <a:solidFill>
              <a:srgbClr val="2C3E5A"/>
            </a:solidFill>
            <a:prstDash val="solid"/>
          </a:ln>
        </p:spPr>
      </p:sp>
      <p:sp>
        <p:nvSpPr>
          <p:cNvPr id="21" name="Text 19"/>
          <p:cNvSpPr/>
          <p:nvPr/>
        </p:nvSpPr>
        <p:spPr>
          <a:xfrm>
            <a:off x="5669280" y="2898648"/>
            <a:ext cx="1828800" cy="384048"/>
          </a:xfrm>
          <a:prstGeom prst="rect">
            <a:avLst/>
          </a:prstGeom>
          <a:noFill/>
          <a:ln/>
        </p:spPr>
        <p:txBody>
          <a:bodyPr wrap="square" lIns="0" tIns="0" rIns="0" bIns="0" rtlCol="0" anchor="ctr"/>
          <a:lstStyle/>
          <a:p>
            <a:pPr indent="0" marL="0">
              <a:buNone/>
            </a:pPr>
            <a:r>
              <a:rPr lang="en-US" sz="1150" dirty="0">
                <a:solidFill>
                  <a:srgbClr val="9BB0CC"/>
                </a:solidFill>
                <a:latin typeface="Calibri" pitchFamily="34" charset="0"/>
                <a:ea typeface="Calibri" pitchFamily="34" charset="-122"/>
                <a:cs typeface="Calibri" pitchFamily="34" charset="-120"/>
              </a:rPr>
              <a:t>CV AUC</a:t>
            </a:r>
            <a:endParaRPr lang="en-US" sz="1150" dirty="0"/>
          </a:p>
        </p:txBody>
      </p:sp>
      <p:sp>
        <p:nvSpPr>
          <p:cNvPr id="22" name="Text 20"/>
          <p:cNvSpPr/>
          <p:nvPr/>
        </p:nvSpPr>
        <p:spPr>
          <a:xfrm>
            <a:off x="7315200" y="2898648"/>
            <a:ext cx="1463040" cy="384048"/>
          </a:xfrm>
          <a:prstGeom prst="rect">
            <a:avLst/>
          </a:prstGeom>
          <a:noFill/>
          <a:ln/>
        </p:spPr>
        <p:txBody>
          <a:bodyPr wrap="square" lIns="0" tIns="0" rIns="0" bIns="0" rtlCol="0" anchor="ctr"/>
          <a:lstStyle/>
          <a:p>
            <a:pPr algn="r" indent="0" marL="0">
              <a:buNone/>
            </a:pPr>
            <a:r>
              <a:rPr lang="en-US" sz="1350" b="1" dirty="0">
                <a:solidFill>
                  <a:srgbClr val="C9A84C"/>
                </a:solidFill>
                <a:latin typeface="Calibri" pitchFamily="34" charset="0"/>
                <a:ea typeface="Calibri" pitchFamily="34" charset="-122"/>
                <a:cs typeface="Calibri" pitchFamily="34" charset="-120"/>
              </a:rPr>
              <a:t>0.8276</a:t>
            </a:r>
            <a:endParaRPr lang="en-US" sz="1350" dirty="0"/>
          </a:p>
        </p:txBody>
      </p:sp>
      <p:sp>
        <p:nvSpPr>
          <p:cNvPr id="23" name="Shape 21"/>
          <p:cNvSpPr/>
          <p:nvPr/>
        </p:nvSpPr>
        <p:spPr>
          <a:xfrm>
            <a:off x="5669280" y="3291840"/>
            <a:ext cx="3017520" cy="0"/>
          </a:xfrm>
          <a:prstGeom prst="line">
            <a:avLst/>
          </a:prstGeom>
          <a:noFill/>
          <a:ln w="12700">
            <a:solidFill>
              <a:srgbClr val="2C3E5A"/>
            </a:solidFill>
            <a:prstDash val="solid"/>
          </a:ln>
        </p:spPr>
      </p:sp>
      <p:sp>
        <p:nvSpPr>
          <p:cNvPr id="24" name="Text 22"/>
          <p:cNvSpPr/>
          <p:nvPr/>
        </p:nvSpPr>
        <p:spPr>
          <a:xfrm>
            <a:off x="5669280" y="3392424"/>
            <a:ext cx="1828800" cy="384048"/>
          </a:xfrm>
          <a:prstGeom prst="rect">
            <a:avLst/>
          </a:prstGeom>
          <a:noFill/>
          <a:ln/>
        </p:spPr>
        <p:txBody>
          <a:bodyPr wrap="square" lIns="0" tIns="0" rIns="0" bIns="0" rtlCol="0" anchor="ctr"/>
          <a:lstStyle/>
          <a:p>
            <a:pPr indent="0" marL="0">
              <a:buNone/>
            </a:pPr>
            <a:r>
              <a:rPr lang="en-US" sz="1150" dirty="0">
                <a:solidFill>
                  <a:srgbClr val="9BB0CC"/>
                </a:solidFill>
                <a:latin typeface="Calibri" pitchFamily="34" charset="0"/>
                <a:ea typeface="Calibri" pitchFamily="34" charset="-122"/>
                <a:cs typeface="Calibri" pitchFamily="34" charset="-120"/>
              </a:rPr>
              <a:t>Test AUC</a:t>
            </a:r>
            <a:endParaRPr lang="en-US" sz="1150" dirty="0"/>
          </a:p>
        </p:txBody>
      </p:sp>
      <p:sp>
        <p:nvSpPr>
          <p:cNvPr id="25" name="Text 23"/>
          <p:cNvSpPr/>
          <p:nvPr/>
        </p:nvSpPr>
        <p:spPr>
          <a:xfrm>
            <a:off x="7315200" y="3392424"/>
            <a:ext cx="1463040" cy="384048"/>
          </a:xfrm>
          <a:prstGeom prst="rect">
            <a:avLst/>
          </a:prstGeom>
          <a:noFill/>
          <a:ln/>
        </p:spPr>
        <p:txBody>
          <a:bodyPr wrap="square" lIns="0" tIns="0" rIns="0" bIns="0" rtlCol="0" anchor="ctr"/>
          <a:lstStyle/>
          <a:p>
            <a:pPr algn="r" indent="0" marL="0">
              <a:buNone/>
            </a:pPr>
            <a:r>
              <a:rPr lang="en-US" sz="1350" b="1" dirty="0">
                <a:solidFill>
                  <a:srgbClr val="C9A84C"/>
                </a:solidFill>
                <a:latin typeface="Calibri" pitchFamily="34" charset="0"/>
                <a:ea typeface="Calibri" pitchFamily="34" charset="-122"/>
                <a:cs typeface="Calibri" pitchFamily="34" charset="-120"/>
              </a:rPr>
              <a:t>0.8503</a:t>
            </a:r>
            <a:endParaRPr lang="en-US" sz="1350" dirty="0"/>
          </a:p>
        </p:txBody>
      </p:sp>
      <p:sp>
        <p:nvSpPr>
          <p:cNvPr id="26" name="Shape 24"/>
          <p:cNvSpPr/>
          <p:nvPr/>
        </p:nvSpPr>
        <p:spPr>
          <a:xfrm>
            <a:off x="320040" y="4206240"/>
            <a:ext cx="8503920" cy="658368"/>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27" name="Text 25"/>
          <p:cNvSpPr/>
          <p:nvPr/>
        </p:nvSpPr>
        <p:spPr>
          <a:xfrm>
            <a:off x="457200" y="4261104"/>
            <a:ext cx="8229600" cy="530352"/>
          </a:xfrm>
          <a:prstGeom prst="rect">
            <a:avLst/>
          </a:prstGeom>
          <a:noFill/>
          <a:ln/>
        </p:spPr>
        <p:txBody>
          <a:bodyPr wrap="square" lIns="0" tIns="0" rIns="0" bIns="0" rtlCol="0" anchor="ctr"/>
          <a:lstStyle/>
          <a:p>
            <a:pPr indent="0" marL="0">
              <a:buNone/>
            </a:pPr>
            <a:r>
              <a:rPr lang="en-US" sz="1150" b="1" dirty="0">
                <a:solidFill>
                  <a:srgbClr val="C9A84C"/>
                </a:solidFill>
                <a:latin typeface="Calibri" pitchFamily="34" charset="0"/>
                <a:ea typeface="Calibri" pitchFamily="34" charset="-122"/>
                <a:cs typeface="Calibri" pitchFamily="34" charset="-120"/>
              </a:rPr>
              <a:t>Why appropriate: </a:t>
            </a:r>
            <a:pPr indent="0" marL="0">
              <a:buNone/>
            </a:pPr>
            <a:r>
              <a:rPr lang="en-US" sz="1150" dirty="0">
                <a:solidFill>
                  <a:srgbClr val="F0F4FA"/>
                </a:solidFill>
                <a:latin typeface="Calibri" pitchFamily="34" charset="0"/>
                <a:ea typeface="Calibri" pitchFamily="34" charset="-122"/>
                <a:cs typeface="Calibri" pitchFamily="34" charset="-120"/>
              </a:rPr>
              <a:t>Captures non-linear chemical interactions implicitly. With balanced weighting, achieves the best low-quality recall (0.796) of any model — most defective bottles caught.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2A7A4B"/>
          </a:solidFill>
          <a:ln w="12700">
            <a:solidFill>
              <a:srgbClr val="2A7A4B"/>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Model 3 — Random Forest Ensemble</a:t>
            </a:r>
            <a:endParaRPr lang="en-US" sz="2400" dirty="0"/>
          </a:p>
        </p:txBody>
      </p:sp>
      <p:sp>
        <p:nvSpPr>
          <p:cNvPr id="4" name="Shape 2"/>
          <p:cNvSpPr/>
          <p:nvPr/>
        </p:nvSpPr>
        <p:spPr>
          <a:xfrm>
            <a:off x="457200" y="749808"/>
            <a:ext cx="1097280" cy="32004"/>
          </a:xfrm>
          <a:prstGeom prst="rect">
            <a:avLst/>
          </a:prstGeom>
          <a:solidFill>
            <a:srgbClr val="C9A84C"/>
          </a:solidFill>
          <a:ln w="12700">
            <a:solidFill>
              <a:srgbClr val="C9A84C"/>
            </a:solidFill>
            <a:prstDash val="solid"/>
          </a:ln>
        </p:spPr>
      </p:sp>
      <p:sp>
        <p:nvSpPr>
          <p:cNvPr id="5" name="Shape 3"/>
          <p:cNvSpPr/>
          <p:nvPr/>
        </p:nvSpPr>
        <p:spPr>
          <a:xfrm>
            <a:off x="320040" y="960120"/>
            <a:ext cx="5029200" cy="315468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20040" y="960120"/>
            <a:ext cx="1828800" cy="292608"/>
          </a:xfrm>
          <a:prstGeom prst="rect">
            <a:avLst/>
          </a:prstGeom>
          <a:solidFill>
            <a:srgbClr val="7B1E2C"/>
          </a:solidFill>
          <a:ln w="12700">
            <a:solidFill>
              <a:srgbClr val="7B1E2C"/>
            </a:solidFill>
            <a:prstDash val="solid"/>
          </a:ln>
          <a:effectLst>
            <a:outerShdw sx="100000" sy="100000" kx="0" ky="0" algn="bl" rotWithShape="0" blurRad="101600" dist="38100" dir="8100000">
              <a:srgbClr val="000000">
                <a:alpha val="25000"/>
              </a:srgbClr>
            </a:outerShdw>
          </a:effectLst>
        </p:spPr>
      </p:sp>
      <p:sp>
        <p:nvSpPr>
          <p:cNvPr id="7" name="Text 5"/>
          <p:cNvSpPr/>
          <p:nvPr/>
        </p:nvSpPr>
        <p:spPr>
          <a:xfrm>
            <a:off x="320040" y="960120"/>
            <a:ext cx="18288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HOW IT WORKS</a:t>
            </a:r>
            <a:endParaRPr lang="en-US" sz="1000" dirty="0"/>
          </a:p>
        </p:txBody>
      </p:sp>
      <p:sp>
        <p:nvSpPr>
          <p:cNvPr id="8" name="Text 6"/>
          <p:cNvSpPr/>
          <p:nvPr/>
        </p:nvSpPr>
        <p:spPr>
          <a:xfrm>
            <a:off x="502920" y="1353312"/>
            <a:ext cx="4663440" cy="2560320"/>
          </a:xfrm>
          <a:prstGeom prst="rect">
            <a:avLst/>
          </a:prstGeom>
          <a:noFill/>
          <a:ln/>
        </p:spPr>
        <p:txBody>
          <a:bodyPr wrap="square" rtlCol="0" anchor="ctr"/>
          <a:lstStyle/>
          <a:p>
            <a:pPr indent="0" marL="0">
              <a:spcAft>
                <a:spcPts val="500"/>
              </a:spcAft>
              <a:buNone/>
            </a:pPr>
            <a:r>
              <a:rPr lang="en-US" sz="1200" dirty="0">
                <a:solidFill>
                  <a:srgbClr val="F0F4FA"/>
                </a:solidFill>
                <a:latin typeface="Calibri" pitchFamily="34" charset="0"/>
                <a:ea typeface="Calibri" pitchFamily="34" charset="-122"/>
                <a:cs typeface="Calibri" pitchFamily="34" charset="-120"/>
              </a:rPr>
              <a:t>300 decision trees on bootstrap samples
</a:t>
            </a:r>
            <a:pPr indent="0" marL="0">
              <a:spcAft>
                <a:spcPts val="500"/>
              </a:spcAft>
              <a:buNone/>
            </a:pPr>
            <a:r>
              <a:rPr lang="en-US" sz="1200" dirty="0">
                <a:solidFill>
                  <a:srgbClr val="F0F4FA"/>
                </a:solidFill>
                <a:latin typeface="Calibri" pitchFamily="34" charset="0"/>
                <a:ea typeface="Calibri" pitchFamily="34" charset="-122"/>
                <a:cs typeface="Calibri" pitchFamily="34" charset="-120"/>
              </a:rPr>
              <a:t>
Random feature subset at each split → decorrelated trees
</a:t>
            </a:r>
            <a:endParaRPr lang="en-US" sz="1200" dirty="0"/>
          </a:p>
          <a:p>
            <a:pPr indent="0" marL="0">
              <a:spcAft>
                <a:spcPts val="500"/>
              </a:spcAft>
              <a:buNone/>
            </a:pPr>
            <a:r>
              <a:rPr lang="en-US" sz="1200" dirty="0">
                <a:solidFill>
                  <a:srgbClr val="9BB0CC"/>
                </a:solidFill>
                <a:latin typeface="Calibri" pitchFamily="34" charset="0"/>
                <a:ea typeface="Calibri" pitchFamily="34" charset="-122"/>
                <a:cs typeface="Calibri" pitchFamily="34" charset="-120"/>
              </a:rPr>
              <a:t>Aggregates by majority vote
</a:t>
            </a:r>
            <a:endParaRPr lang="en-US" sz="1200" dirty="0"/>
          </a:p>
          <a:p>
            <a:pPr indent="0" marL="0">
              <a:spcAft>
                <a:spcPts val="500"/>
              </a:spcAft>
              <a:buNone/>
            </a:pPr>
            <a:r>
              <a:rPr lang="en-US" sz="1200" dirty="0">
                <a:solidFill>
                  <a:srgbClr val="9BB0CC"/>
                </a:solidFill>
                <a:latin typeface="Calibri" pitchFamily="34" charset="0"/>
                <a:ea typeface="Calibri" pitchFamily="34" charset="-122"/>
                <a:cs typeface="Calibri" pitchFamily="34" charset="-120"/>
              </a:rPr>
              <a:t>Grid: n × depth × class_weight
</a:t>
            </a:r>
            <a:endParaRPr lang="en-US" sz="1200" dirty="0"/>
          </a:p>
          <a:p>
            <a:pPr indent="0" marL="0">
              <a:spcAft>
                <a:spcPts val="500"/>
              </a:spcAft>
              <a:buNone/>
            </a:pPr>
            <a:r>
              <a:rPr lang="en-US" sz="1200" b="1" dirty="0">
                <a:solidFill>
                  <a:srgbClr val="C9A84C"/>
                </a:solidFill>
                <a:latin typeface="Calibri" pitchFamily="34" charset="0"/>
                <a:ea typeface="Calibri" pitchFamily="34" charset="-122"/>
                <a:cs typeface="Calibri" pitchFamily="34" charset="-120"/>
              </a:rPr>
              <a:t>Best: n=300, depth=None, cw=None
</a:t>
            </a:r>
            <a:endParaRPr lang="en-US" sz="1200" dirty="0"/>
          </a:p>
          <a:p>
            <a:pPr indent="0" marL="0">
              <a:spcAft>
                <a:spcPts val="500"/>
              </a:spcAft>
              <a:buNone/>
            </a:pPr>
            <a:r>
              <a:rPr lang="en-US" sz="1200" i="1" dirty="0">
                <a:solidFill>
                  <a:srgbClr val="9BB0CC"/>
                </a:solidFill>
                <a:latin typeface="Calibri" pitchFamily="34" charset="0"/>
                <a:ea typeface="Calibri" pitchFamily="34" charset="-122"/>
                <a:cs typeface="Calibri" pitchFamily="34" charset="-120"/>
              </a:rPr>
              <a:t>Bootstrap sampling already handles imbalance — no balanced cw needed</a:t>
            </a:r>
            <a:endParaRPr lang="en-US" sz="1200" dirty="0"/>
          </a:p>
        </p:txBody>
      </p:sp>
      <p:sp>
        <p:nvSpPr>
          <p:cNvPr id="9" name="Shape 7"/>
          <p:cNvSpPr/>
          <p:nvPr/>
        </p:nvSpPr>
        <p:spPr>
          <a:xfrm>
            <a:off x="5577840" y="960120"/>
            <a:ext cx="3291840" cy="315468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5577840" y="960120"/>
            <a:ext cx="1463040" cy="292608"/>
          </a:xfrm>
          <a:prstGeom prst="rect">
            <a:avLst/>
          </a:prstGeom>
          <a:solidFill>
            <a:srgbClr val="7B1E2C"/>
          </a:solidFill>
          <a:ln w="12700">
            <a:solidFill>
              <a:srgbClr val="7B1E2C"/>
            </a:solidFill>
            <a:prstDash val="solid"/>
          </a:ln>
          <a:effectLst>
            <a:outerShdw sx="100000" sy="100000" kx="0" ky="0" algn="bl" rotWithShape="0" blurRad="101600" dist="38100" dir="8100000">
              <a:srgbClr val="000000">
                <a:alpha val="25000"/>
              </a:srgbClr>
            </a:outerShdw>
          </a:effectLst>
        </p:spPr>
      </p:sp>
      <p:sp>
        <p:nvSpPr>
          <p:cNvPr id="11" name="Text 9"/>
          <p:cNvSpPr/>
          <p:nvPr/>
        </p:nvSpPr>
        <p:spPr>
          <a:xfrm>
            <a:off x="5577840" y="960120"/>
            <a:ext cx="14630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RESULTS</a:t>
            </a:r>
            <a:endParaRPr lang="en-US" sz="1000" dirty="0"/>
          </a:p>
        </p:txBody>
      </p:sp>
      <p:sp>
        <p:nvSpPr>
          <p:cNvPr id="12" name="Text 10"/>
          <p:cNvSpPr/>
          <p:nvPr/>
        </p:nvSpPr>
        <p:spPr>
          <a:xfrm>
            <a:off x="5669280" y="1417320"/>
            <a:ext cx="1828800" cy="384048"/>
          </a:xfrm>
          <a:prstGeom prst="rect">
            <a:avLst/>
          </a:prstGeom>
          <a:noFill/>
          <a:ln/>
        </p:spPr>
        <p:txBody>
          <a:bodyPr wrap="square" lIns="0" tIns="0" rIns="0" bIns="0" rtlCol="0" anchor="ctr"/>
          <a:lstStyle/>
          <a:p>
            <a:pPr indent="0" marL="0">
              <a:buNone/>
            </a:pPr>
            <a:r>
              <a:rPr lang="en-US" sz="1150" dirty="0">
                <a:solidFill>
                  <a:srgbClr val="9BB0CC"/>
                </a:solidFill>
                <a:latin typeface="Calibri" pitchFamily="34" charset="0"/>
                <a:ea typeface="Calibri" pitchFamily="34" charset="-122"/>
                <a:cs typeface="Calibri" pitchFamily="34" charset="-120"/>
              </a:rPr>
              <a:t>Best n</a:t>
            </a:r>
            <a:endParaRPr lang="en-US" sz="1150" dirty="0"/>
          </a:p>
        </p:txBody>
      </p:sp>
      <p:sp>
        <p:nvSpPr>
          <p:cNvPr id="13" name="Text 11"/>
          <p:cNvSpPr/>
          <p:nvPr/>
        </p:nvSpPr>
        <p:spPr>
          <a:xfrm>
            <a:off x="7315200" y="1417320"/>
            <a:ext cx="1463040" cy="384048"/>
          </a:xfrm>
          <a:prstGeom prst="rect">
            <a:avLst/>
          </a:prstGeom>
          <a:noFill/>
          <a:ln/>
        </p:spPr>
        <p:txBody>
          <a:bodyPr wrap="square" lIns="0" tIns="0" rIns="0" bIns="0" rtlCol="0" anchor="ctr"/>
          <a:lstStyle/>
          <a:p>
            <a:pPr algn="r" indent="0" marL="0">
              <a:buNone/>
            </a:pPr>
            <a:r>
              <a:rPr lang="en-US" sz="1350" b="1" dirty="0">
                <a:solidFill>
                  <a:srgbClr val="C9A84C"/>
                </a:solidFill>
                <a:latin typeface="Calibri" pitchFamily="34" charset="0"/>
                <a:ea typeface="Calibri" pitchFamily="34" charset="-122"/>
                <a:cs typeface="Calibri" pitchFamily="34" charset="-120"/>
              </a:rPr>
              <a:t>300</a:t>
            </a:r>
            <a:endParaRPr lang="en-US" sz="1350" dirty="0"/>
          </a:p>
        </p:txBody>
      </p:sp>
      <p:sp>
        <p:nvSpPr>
          <p:cNvPr id="14" name="Shape 12"/>
          <p:cNvSpPr/>
          <p:nvPr/>
        </p:nvSpPr>
        <p:spPr>
          <a:xfrm>
            <a:off x="5669280" y="1810512"/>
            <a:ext cx="3017520" cy="0"/>
          </a:xfrm>
          <a:prstGeom prst="line">
            <a:avLst/>
          </a:prstGeom>
          <a:noFill/>
          <a:ln w="12700">
            <a:solidFill>
              <a:srgbClr val="2C3E5A"/>
            </a:solidFill>
            <a:prstDash val="solid"/>
          </a:ln>
        </p:spPr>
      </p:sp>
      <p:sp>
        <p:nvSpPr>
          <p:cNvPr id="15" name="Text 13"/>
          <p:cNvSpPr/>
          <p:nvPr/>
        </p:nvSpPr>
        <p:spPr>
          <a:xfrm>
            <a:off x="5669280" y="1911096"/>
            <a:ext cx="1828800" cy="384048"/>
          </a:xfrm>
          <a:prstGeom prst="rect">
            <a:avLst/>
          </a:prstGeom>
          <a:noFill/>
          <a:ln/>
        </p:spPr>
        <p:txBody>
          <a:bodyPr wrap="square" lIns="0" tIns="0" rIns="0" bIns="0" rtlCol="0" anchor="ctr"/>
          <a:lstStyle/>
          <a:p>
            <a:pPr indent="0" marL="0">
              <a:buNone/>
            </a:pPr>
            <a:r>
              <a:rPr lang="en-US" sz="1150" dirty="0">
                <a:solidFill>
                  <a:srgbClr val="9BB0CC"/>
                </a:solidFill>
                <a:latin typeface="Calibri" pitchFamily="34" charset="0"/>
                <a:ea typeface="Calibri" pitchFamily="34" charset="-122"/>
                <a:cs typeface="Calibri" pitchFamily="34" charset="-120"/>
              </a:rPr>
              <a:t>Best depth</a:t>
            </a:r>
            <a:endParaRPr lang="en-US" sz="1150" dirty="0"/>
          </a:p>
        </p:txBody>
      </p:sp>
      <p:sp>
        <p:nvSpPr>
          <p:cNvPr id="16" name="Text 14"/>
          <p:cNvSpPr/>
          <p:nvPr/>
        </p:nvSpPr>
        <p:spPr>
          <a:xfrm>
            <a:off x="7315200" y="1911096"/>
            <a:ext cx="1463040" cy="384048"/>
          </a:xfrm>
          <a:prstGeom prst="rect">
            <a:avLst/>
          </a:prstGeom>
          <a:noFill/>
          <a:ln/>
        </p:spPr>
        <p:txBody>
          <a:bodyPr wrap="square" lIns="0" tIns="0" rIns="0" bIns="0" rtlCol="0" anchor="ctr"/>
          <a:lstStyle/>
          <a:p>
            <a:pPr algn="r" indent="0" marL="0">
              <a:buNone/>
            </a:pPr>
            <a:r>
              <a:rPr lang="en-US" sz="1350" b="1" dirty="0">
                <a:solidFill>
                  <a:srgbClr val="C9A84C"/>
                </a:solidFill>
                <a:latin typeface="Calibri" pitchFamily="34" charset="0"/>
                <a:ea typeface="Calibri" pitchFamily="34" charset="-122"/>
                <a:cs typeface="Calibri" pitchFamily="34" charset="-120"/>
              </a:rPr>
              <a:t>None</a:t>
            </a:r>
            <a:endParaRPr lang="en-US" sz="1350" dirty="0"/>
          </a:p>
        </p:txBody>
      </p:sp>
      <p:sp>
        <p:nvSpPr>
          <p:cNvPr id="17" name="Shape 15"/>
          <p:cNvSpPr/>
          <p:nvPr/>
        </p:nvSpPr>
        <p:spPr>
          <a:xfrm>
            <a:off x="5669280" y="2304288"/>
            <a:ext cx="3017520" cy="0"/>
          </a:xfrm>
          <a:prstGeom prst="line">
            <a:avLst/>
          </a:prstGeom>
          <a:noFill/>
          <a:ln w="12700">
            <a:solidFill>
              <a:srgbClr val="2C3E5A"/>
            </a:solidFill>
            <a:prstDash val="solid"/>
          </a:ln>
        </p:spPr>
      </p:sp>
      <p:sp>
        <p:nvSpPr>
          <p:cNvPr id="18" name="Text 16"/>
          <p:cNvSpPr/>
          <p:nvPr/>
        </p:nvSpPr>
        <p:spPr>
          <a:xfrm>
            <a:off x="5669280" y="2404872"/>
            <a:ext cx="1828800" cy="384048"/>
          </a:xfrm>
          <a:prstGeom prst="rect">
            <a:avLst/>
          </a:prstGeom>
          <a:noFill/>
          <a:ln/>
        </p:spPr>
        <p:txBody>
          <a:bodyPr wrap="square" lIns="0" tIns="0" rIns="0" bIns="0" rtlCol="0" anchor="ctr"/>
          <a:lstStyle/>
          <a:p>
            <a:pPr indent="0" marL="0">
              <a:buNone/>
            </a:pPr>
            <a:r>
              <a:rPr lang="en-US" sz="1150" dirty="0">
                <a:solidFill>
                  <a:srgbClr val="9BB0CC"/>
                </a:solidFill>
                <a:latin typeface="Calibri" pitchFamily="34" charset="0"/>
                <a:ea typeface="Calibri" pitchFamily="34" charset="-122"/>
                <a:cs typeface="Calibri" pitchFamily="34" charset="-120"/>
              </a:rPr>
              <a:t>class_weight</a:t>
            </a:r>
            <a:endParaRPr lang="en-US" sz="1150" dirty="0"/>
          </a:p>
        </p:txBody>
      </p:sp>
      <p:sp>
        <p:nvSpPr>
          <p:cNvPr id="19" name="Text 17"/>
          <p:cNvSpPr/>
          <p:nvPr/>
        </p:nvSpPr>
        <p:spPr>
          <a:xfrm>
            <a:off x="7315200" y="2404872"/>
            <a:ext cx="1463040" cy="384048"/>
          </a:xfrm>
          <a:prstGeom prst="rect">
            <a:avLst/>
          </a:prstGeom>
          <a:noFill/>
          <a:ln/>
        </p:spPr>
        <p:txBody>
          <a:bodyPr wrap="square" lIns="0" tIns="0" rIns="0" bIns="0" rtlCol="0" anchor="ctr"/>
          <a:lstStyle/>
          <a:p>
            <a:pPr algn="r" indent="0" marL="0">
              <a:buNone/>
            </a:pPr>
            <a:r>
              <a:rPr lang="en-US" sz="1350" b="1" dirty="0">
                <a:solidFill>
                  <a:srgbClr val="C9A84C"/>
                </a:solidFill>
                <a:latin typeface="Calibri" pitchFamily="34" charset="0"/>
                <a:ea typeface="Calibri" pitchFamily="34" charset="-122"/>
                <a:cs typeface="Calibri" pitchFamily="34" charset="-120"/>
              </a:rPr>
              <a:t>None</a:t>
            </a:r>
            <a:endParaRPr lang="en-US" sz="1350" dirty="0"/>
          </a:p>
        </p:txBody>
      </p:sp>
      <p:sp>
        <p:nvSpPr>
          <p:cNvPr id="20" name="Shape 18"/>
          <p:cNvSpPr/>
          <p:nvPr/>
        </p:nvSpPr>
        <p:spPr>
          <a:xfrm>
            <a:off x="5669280" y="2798064"/>
            <a:ext cx="3017520" cy="0"/>
          </a:xfrm>
          <a:prstGeom prst="line">
            <a:avLst/>
          </a:prstGeom>
          <a:noFill/>
          <a:ln w="12700">
            <a:solidFill>
              <a:srgbClr val="2C3E5A"/>
            </a:solidFill>
            <a:prstDash val="solid"/>
          </a:ln>
        </p:spPr>
      </p:sp>
      <p:sp>
        <p:nvSpPr>
          <p:cNvPr id="21" name="Text 19"/>
          <p:cNvSpPr/>
          <p:nvPr/>
        </p:nvSpPr>
        <p:spPr>
          <a:xfrm>
            <a:off x="5669280" y="2898648"/>
            <a:ext cx="1828800" cy="384048"/>
          </a:xfrm>
          <a:prstGeom prst="rect">
            <a:avLst/>
          </a:prstGeom>
          <a:noFill/>
          <a:ln/>
        </p:spPr>
        <p:txBody>
          <a:bodyPr wrap="square" lIns="0" tIns="0" rIns="0" bIns="0" rtlCol="0" anchor="ctr"/>
          <a:lstStyle/>
          <a:p>
            <a:pPr indent="0" marL="0">
              <a:buNone/>
            </a:pPr>
            <a:r>
              <a:rPr lang="en-US" sz="1150" dirty="0">
                <a:solidFill>
                  <a:srgbClr val="9BB0CC"/>
                </a:solidFill>
                <a:latin typeface="Calibri" pitchFamily="34" charset="0"/>
                <a:ea typeface="Calibri" pitchFamily="34" charset="-122"/>
                <a:cs typeface="Calibri" pitchFamily="34" charset="-120"/>
              </a:rPr>
              <a:t>CV AUC</a:t>
            </a:r>
            <a:endParaRPr lang="en-US" sz="1150" dirty="0"/>
          </a:p>
        </p:txBody>
      </p:sp>
      <p:sp>
        <p:nvSpPr>
          <p:cNvPr id="22" name="Text 20"/>
          <p:cNvSpPr/>
          <p:nvPr/>
        </p:nvSpPr>
        <p:spPr>
          <a:xfrm>
            <a:off x="7315200" y="2898648"/>
            <a:ext cx="1463040" cy="384048"/>
          </a:xfrm>
          <a:prstGeom prst="rect">
            <a:avLst/>
          </a:prstGeom>
          <a:noFill/>
          <a:ln/>
        </p:spPr>
        <p:txBody>
          <a:bodyPr wrap="square" lIns="0" tIns="0" rIns="0" bIns="0" rtlCol="0" anchor="ctr"/>
          <a:lstStyle/>
          <a:p>
            <a:pPr algn="r" indent="0" marL="0">
              <a:buNone/>
            </a:pPr>
            <a:r>
              <a:rPr lang="en-US" sz="1350" b="1" dirty="0">
                <a:solidFill>
                  <a:srgbClr val="C9A84C"/>
                </a:solidFill>
                <a:latin typeface="Calibri" pitchFamily="34" charset="0"/>
                <a:ea typeface="Calibri" pitchFamily="34" charset="-122"/>
                <a:cs typeface="Calibri" pitchFamily="34" charset="-120"/>
              </a:rPr>
              <a:t>0.8814</a:t>
            </a:r>
            <a:endParaRPr lang="en-US" sz="1350" dirty="0"/>
          </a:p>
        </p:txBody>
      </p:sp>
      <p:sp>
        <p:nvSpPr>
          <p:cNvPr id="23" name="Shape 21"/>
          <p:cNvSpPr/>
          <p:nvPr/>
        </p:nvSpPr>
        <p:spPr>
          <a:xfrm>
            <a:off x="5669280" y="3291840"/>
            <a:ext cx="3017520" cy="0"/>
          </a:xfrm>
          <a:prstGeom prst="line">
            <a:avLst/>
          </a:prstGeom>
          <a:noFill/>
          <a:ln w="12700">
            <a:solidFill>
              <a:srgbClr val="2C3E5A"/>
            </a:solidFill>
            <a:prstDash val="solid"/>
          </a:ln>
        </p:spPr>
      </p:sp>
      <p:sp>
        <p:nvSpPr>
          <p:cNvPr id="24" name="Text 22"/>
          <p:cNvSpPr/>
          <p:nvPr/>
        </p:nvSpPr>
        <p:spPr>
          <a:xfrm>
            <a:off x="5669280" y="3392424"/>
            <a:ext cx="1828800" cy="384048"/>
          </a:xfrm>
          <a:prstGeom prst="rect">
            <a:avLst/>
          </a:prstGeom>
          <a:noFill/>
          <a:ln/>
        </p:spPr>
        <p:txBody>
          <a:bodyPr wrap="square" lIns="0" tIns="0" rIns="0" bIns="0" rtlCol="0" anchor="ctr"/>
          <a:lstStyle/>
          <a:p>
            <a:pPr indent="0" marL="0">
              <a:buNone/>
            </a:pPr>
            <a:r>
              <a:rPr lang="en-US" sz="1150" dirty="0">
                <a:solidFill>
                  <a:srgbClr val="9BB0CC"/>
                </a:solidFill>
                <a:latin typeface="Calibri" pitchFamily="34" charset="0"/>
                <a:ea typeface="Calibri" pitchFamily="34" charset="-122"/>
                <a:cs typeface="Calibri" pitchFamily="34" charset="-120"/>
              </a:rPr>
              <a:t>Test AUC</a:t>
            </a:r>
            <a:endParaRPr lang="en-US" sz="1150" dirty="0"/>
          </a:p>
        </p:txBody>
      </p:sp>
      <p:sp>
        <p:nvSpPr>
          <p:cNvPr id="25" name="Text 23"/>
          <p:cNvSpPr/>
          <p:nvPr/>
        </p:nvSpPr>
        <p:spPr>
          <a:xfrm>
            <a:off x="7315200" y="3392424"/>
            <a:ext cx="1463040" cy="384048"/>
          </a:xfrm>
          <a:prstGeom prst="rect">
            <a:avLst/>
          </a:prstGeom>
          <a:noFill/>
          <a:ln/>
        </p:spPr>
        <p:txBody>
          <a:bodyPr wrap="square" lIns="0" tIns="0" rIns="0" bIns="0" rtlCol="0" anchor="ctr"/>
          <a:lstStyle/>
          <a:p>
            <a:pPr algn="r" indent="0" marL="0">
              <a:buNone/>
            </a:pPr>
            <a:r>
              <a:rPr lang="en-US" sz="1350" b="1" dirty="0">
                <a:solidFill>
                  <a:srgbClr val="C9A84C"/>
                </a:solidFill>
                <a:latin typeface="Calibri" pitchFamily="34" charset="0"/>
                <a:ea typeface="Calibri" pitchFamily="34" charset="-122"/>
                <a:cs typeface="Calibri" pitchFamily="34" charset="-120"/>
              </a:rPr>
              <a:t>0.9041</a:t>
            </a:r>
            <a:endParaRPr lang="en-US" sz="1350" dirty="0"/>
          </a:p>
        </p:txBody>
      </p:sp>
      <p:sp>
        <p:nvSpPr>
          <p:cNvPr id="26" name="Shape 24"/>
          <p:cNvSpPr/>
          <p:nvPr/>
        </p:nvSpPr>
        <p:spPr>
          <a:xfrm>
            <a:off x="320040" y="4206240"/>
            <a:ext cx="8503920" cy="658368"/>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27" name="Text 25"/>
          <p:cNvSpPr/>
          <p:nvPr/>
        </p:nvSpPr>
        <p:spPr>
          <a:xfrm>
            <a:off x="457200" y="4261104"/>
            <a:ext cx="8229600" cy="530352"/>
          </a:xfrm>
          <a:prstGeom prst="rect">
            <a:avLst/>
          </a:prstGeom>
          <a:noFill/>
          <a:ln/>
        </p:spPr>
        <p:txBody>
          <a:bodyPr wrap="square" lIns="0" tIns="0" rIns="0" bIns="0" rtlCol="0" anchor="ctr"/>
          <a:lstStyle/>
          <a:p>
            <a:pPr indent="0" marL="0">
              <a:buNone/>
            </a:pPr>
            <a:r>
              <a:rPr lang="en-US" sz="1150" b="1" dirty="0">
                <a:solidFill>
                  <a:srgbClr val="C9A84C"/>
                </a:solidFill>
                <a:latin typeface="Calibri" pitchFamily="34" charset="0"/>
                <a:ea typeface="Calibri" pitchFamily="34" charset="-122"/>
                <a:cs typeface="Calibri" pitchFamily="34" charset="-120"/>
              </a:rPr>
              <a:t>Notable: </a:t>
            </a:r>
            <a:pPr indent="0" marL="0">
              <a:buNone/>
            </a:pPr>
            <a:r>
              <a:rPr lang="en-US" sz="1150" dirty="0">
                <a:solidFill>
                  <a:srgbClr val="F0F4FA"/>
                </a:solidFill>
                <a:latin typeface="Calibri" pitchFamily="34" charset="0"/>
                <a:ea typeface="Calibri" pitchFamily="34" charset="-122"/>
                <a:cs typeface="Calibri" pitchFamily="34" charset="-120"/>
              </a:rPr>
              <a:t>RF was the only model where class_weight = None won — bootstrap sampling provides implicit balancing. RF achieves highest AUC, best Brier score (0.124), and highest low-class precision.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2A7A4B"/>
          </a:solidFill>
          <a:ln w="12700">
            <a:solidFill>
              <a:srgbClr val="2A7A4B"/>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Test Set Results — ROC + 95% Bootstrap CIs</a:t>
            </a:r>
            <a:endParaRPr lang="en-US" sz="2400" dirty="0"/>
          </a:p>
        </p:txBody>
      </p:sp>
      <p:sp>
        <p:nvSpPr>
          <p:cNvPr id="4" name="Shape 2"/>
          <p:cNvSpPr/>
          <p:nvPr/>
        </p:nvSpPr>
        <p:spPr>
          <a:xfrm>
            <a:off x="457200" y="749808"/>
            <a:ext cx="1097280" cy="32004"/>
          </a:xfrm>
          <a:prstGeom prst="rect">
            <a:avLst/>
          </a:prstGeom>
          <a:solidFill>
            <a:srgbClr val="C9A84C"/>
          </a:solidFill>
          <a:ln w="12700">
            <a:solidFill>
              <a:srgbClr val="C9A84C"/>
            </a:solidFill>
            <a:prstDash val="solid"/>
          </a:ln>
        </p:spPr>
      </p:sp>
      <p:pic>
        <p:nvPicPr>
          <p:cNvPr id="5" name="Image 0" descr="/Users/moka/Documents/EE559/Project/figures/roc_test_all.png">    </p:cNvPr>
          <p:cNvPicPr>
            <a:picLocks noChangeAspect="1"/>
          </p:cNvPicPr>
          <p:nvPr/>
        </p:nvPicPr>
        <p:blipFill>
          <a:blip r:embed="rId1"/>
          <a:stretch>
            <a:fillRect/>
          </a:stretch>
        </p:blipFill>
        <p:spPr>
          <a:xfrm>
            <a:off x="228600" y="960120"/>
            <a:ext cx="4297680" cy="3566160"/>
          </a:xfrm>
          <a:prstGeom prst="rect">
            <a:avLst/>
          </a:prstGeom>
        </p:spPr>
      </p:pic>
      <p:sp>
        <p:nvSpPr>
          <p:cNvPr id="6" name="Shape 3"/>
          <p:cNvSpPr/>
          <p:nvPr/>
        </p:nvSpPr>
        <p:spPr>
          <a:xfrm>
            <a:off x="4709160" y="960120"/>
            <a:ext cx="4160520" cy="356616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7" name="Shape 4"/>
          <p:cNvSpPr/>
          <p:nvPr/>
        </p:nvSpPr>
        <p:spPr>
          <a:xfrm>
            <a:off x="4709160" y="960120"/>
            <a:ext cx="2286000" cy="292608"/>
          </a:xfrm>
          <a:prstGeom prst="rect">
            <a:avLst/>
          </a:prstGeom>
          <a:solidFill>
            <a:srgbClr val="7B1E2C"/>
          </a:solidFill>
          <a:ln w="12700">
            <a:solidFill>
              <a:srgbClr val="7B1E2C"/>
            </a:solidFill>
            <a:prstDash val="solid"/>
          </a:ln>
          <a:effectLst>
            <a:outerShdw sx="100000" sy="100000" kx="0" ky="0" algn="bl" rotWithShape="0" blurRad="101600" dist="38100" dir="8100000">
              <a:srgbClr val="000000">
                <a:alpha val="25000"/>
              </a:srgbClr>
            </a:outerShdw>
          </a:effectLst>
        </p:spPr>
      </p:sp>
      <p:sp>
        <p:nvSpPr>
          <p:cNvPr id="8" name="Text 5"/>
          <p:cNvSpPr/>
          <p:nvPr/>
        </p:nvSpPr>
        <p:spPr>
          <a:xfrm>
            <a:off x="4709160" y="960120"/>
            <a:ext cx="22860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TEST METRICS (RF ★)</a:t>
            </a:r>
            <a:endParaRPr lang="en-US" sz="1000" dirty="0"/>
          </a:p>
        </p:txBody>
      </p:sp>
      <p:sp>
        <p:nvSpPr>
          <p:cNvPr id="9" name="Text 6"/>
          <p:cNvSpPr/>
          <p:nvPr/>
        </p:nvSpPr>
        <p:spPr>
          <a:xfrm>
            <a:off x="4892040" y="1371600"/>
            <a:ext cx="1828800" cy="384048"/>
          </a:xfrm>
          <a:prstGeom prst="rect">
            <a:avLst/>
          </a:prstGeom>
          <a:noFill/>
          <a:ln/>
        </p:spPr>
        <p:txBody>
          <a:bodyPr wrap="square" lIns="0" tIns="0" rIns="0" bIns="0" rtlCol="0" anchor="ctr"/>
          <a:lstStyle/>
          <a:p>
            <a:pPr indent="0" marL="0">
              <a:buNone/>
            </a:pPr>
            <a:r>
              <a:rPr lang="en-US" sz="1200" dirty="0">
                <a:solidFill>
                  <a:srgbClr val="9BB0CC"/>
                </a:solidFill>
                <a:latin typeface="Calibri" pitchFamily="34" charset="0"/>
                <a:ea typeface="Calibri" pitchFamily="34" charset="-122"/>
                <a:cs typeface="Calibri" pitchFamily="34" charset="-120"/>
              </a:rPr>
              <a:t>Accuracy</a:t>
            </a:r>
            <a:endParaRPr lang="en-US" sz="1200" dirty="0"/>
          </a:p>
        </p:txBody>
      </p:sp>
      <p:sp>
        <p:nvSpPr>
          <p:cNvPr id="10" name="Text 7"/>
          <p:cNvSpPr/>
          <p:nvPr/>
        </p:nvSpPr>
        <p:spPr>
          <a:xfrm>
            <a:off x="6766560" y="1371600"/>
            <a:ext cx="2011680" cy="384048"/>
          </a:xfrm>
          <a:prstGeom prst="rect">
            <a:avLst/>
          </a:prstGeom>
          <a:noFill/>
          <a:ln/>
        </p:spPr>
        <p:txBody>
          <a:bodyPr wrap="square" lIns="0" tIns="0" rIns="0" bIns="0" rtlCol="0" anchor="ctr"/>
          <a:lstStyle/>
          <a:p>
            <a:pPr algn="r" indent="0" marL="0">
              <a:buNone/>
            </a:pPr>
            <a:r>
              <a:rPr lang="en-US" sz="1400" b="1" dirty="0">
                <a:solidFill>
                  <a:srgbClr val="C9A84C"/>
                </a:solidFill>
                <a:latin typeface="Calibri" pitchFamily="34" charset="0"/>
                <a:ea typeface="Calibri" pitchFamily="34" charset="-122"/>
                <a:cs typeface="Calibri" pitchFamily="34" charset="-120"/>
              </a:rPr>
              <a:t>0.829</a:t>
            </a:r>
            <a:endParaRPr lang="en-US" sz="1400" dirty="0"/>
          </a:p>
        </p:txBody>
      </p:sp>
      <p:sp>
        <p:nvSpPr>
          <p:cNvPr id="11" name="Shape 8"/>
          <p:cNvSpPr/>
          <p:nvPr/>
        </p:nvSpPr>
        <p:spPr>
          <a:xfrm>
            <a:off x="4892040" y="1764792"/>
            <a:ext cx="3886200" cy="0"/>
          </a:xfrm>
          <a:prstGeom prst="line">
            <a:avLst/>
          </a:prstGeom>
          <a:noFill/>
          <a:ln w="12700">
            <a:solidFill>
              <a:srgbClr val="2C3E5A"/>
            </a:solidFill>
            <a:prstDash val="solid"/>
          </a:ln>
        </p:spPr>
      </p:sp>
      <p:sp>
        <p:nvSpPr>
          <p:cNvPr id="12" name="Text 9"/>
          <p:cNvSpPr/>
          <p:nvPr/>
        </p:nvSpPr>
        <p:spPr>
          <a:xfrm>
            <a:off x="4892040" y="1874520"/>
            <a:ext cx="1828800" cy="384048"/>
          </a:xfrm>
          <a:prstGeom prst="rect">
            <a:avLst/>
          </a:prstGeom>
          <a:noFill/>
          <a:ln/>
        </p:spPr>
        <p:txBody>
          <a:bodyPr wrap="square" lIns="0" tIns="0" rIns="0" bIns="0" rtlCol="0" anchor="ctr"/>
          <a:lstStyle/>
          <a:p>
            <a:pPr indent="0" marL="0">
              <a:buNone/>
            </a:pPr>
            <a:r>
              <a:rPr lang="en-US" sz="1200" dirty="0">
                <a:solidFill>
                  <a:srgbClr val="9BB0CC"/>
                </a:solidFill>
                <a:latin typeface="Calibri" pitchFamily="34" charset="0"/>
                <a:ea typeface="Calibri" pitchFamily="34" charset="-122"/>
                <a:cs typeface="Calibri" pitchFamily="34" charset="-120"/>
              </a:rPr>
              <a:t>Macro F1</a:t>
            </a:r>
            <a:endParaRPr lang="en-US" sz="1200" dirty="0"/>
          </a:p>
        </p:txBody>
      </p:sp>
      <p:sp>
        <p:nvSpPr>
          <p:cNvPr id="13" name="Text 10"/>
          <p:cNvSpPr/>
          <p:nvPr/>
        </p:nvSpPr>
        <p:spPr>
          <a:xfrm>
            <a:off x="6766560" y="1874520"/>
            <a:ext cx="2011680" cy="384048"/>
          </a:xfrm>
          <a:prstGeom prst="rect">
            <a:avLst/>
          </a:prstGeom>
          <a:noFill/>
          <a:ln/>
        </p:spPr>
        <p:txBody>
          <a:bodyPr wrap="square" lIns="0" tIns="0" rIns="0" bIns="0" rtlCol="0" anchor="ctr"/>
          <a:lstStyle/>
          <a:p>
            <a:pPr algn="r" indent="0" marL="0">
              <a:buNone/>
            </a:pPr>
            <a:r>
              <a:rPr lang="en-US" sz="1400" b="1" dirty="0">
                <a:solidFill>
                  <a:srgbClr val="C9A84C"/>
                </a:solidFill>
                <a:latin typeface="Calibri" pitchFamily="34" charset="0"/>
                <a:ea typeface="Calibri" pitchFamily="34" charset="-122"/>
                <a:cs typeface="Calibri" pitchFamily="34" charset="-120"/>
              </a:rPr>
              <a:t>0.811</a:t>
            </a:r>
            <a:endParaRPr lang="en-US" sz="1400" dirty="0"/>
          </a:p>
        </p:txBody>
      </p:sp>
      <p:sp>
        <p:nvSpPr>
          <p:cNvPr id="14" name="Shape 11"/>
          <p:cNvSpPr/>
          <p:nvPr/>
        </p:nvSpPr>
        <p:spPr>
          <a:xfrm>
            <a:off x="4892040" y="2267712"/>
            <a:ext cx="3886200" cy="0"/>
          </a:xfrm>
          <a:prstGeom prst="line">
            <a:avLst/>
          </a:prstGeom>
          <a:noFill/>
          <a:ln w="12700">
            <a:solidFill>
              <a:srgbClr val="2C3E5A"/>
            </a:solidFill>
            <a:prstDash val="solid"/>
          </a:ln>
        </p:spPr>
      </p:sp>
      <p:sp>
        <p:nvSpPr>
          <p:cNvPr id="15" name="Text 12"/>
          <p:cNvSpPr/>
          <p:nvPr/>
        </p:nvSpPr>
        <p:spPr>
          <a:xfrm>
            <a:off x="4892040" y="2377440"/>
            <a:ext cx="1828800" cy="384048"/>
          </a:xfrm>
          <a:prstGeom prst="rect">
            <a:avLst/>
          </a:prstGeom>
          <a:noFill/>
          <a:ln/>
        </p:spPr>
        <p:txBody>
          <a:bodyPr wrap="square" lIns="0" tIns="0" rIns="0" bIns="0" rtlCol="0" anchor="ctr"/>
          <a:lstStyle/>
          <a:p>
            <a:pPr indent="0" marL="0">
              <a:buNone/>
            </a:pPr>
            <a:r>
              <a:rPr lang="en-US" sz="1200" dirty="0">
                <a:solidFill>
                  <a:srgbClr val="9BB0CC"/>
                </a:solidFill>
                <a:latin typeface="Calibri" pitchFamily="34" charset="0"/>
                <a:ea typeface="Calibri" pitchFamily="34" charset="-122"/>
                <a:cs typeface="Calibri" pitchFamily="34" charset="-120"/>
              </a:rPr>
              <a:t>ROC-AUC</a:t>
            </a:r>
            <a:endParaRPr lang="en-US" sz="1200" dirty="0"/>
          </a:p>
        </p:txBody>
      </p:sp>
      <p:sp>
        <p:nvSpPr>
          <p:cNvPr id="16" name="Text 13"/>
          <p:cNvSpPr/>
          <p:nvPr/>
        </p:nvSpPr>
        <p:spPr>
          <a:xfrm>
            <a:off x="6766560" y="2377440"/>
            <a:ext cx="2011680" cy="384048"/>
          </a:xfrm>
          <a:prstGeom prst="rect">
            <a:avLst/>
          </a:prstGeom>
          <a:noFill/>
          <a:ln/>
        </p:spPr>
        <p:txBody>
          <a:bodyPr wrap="square" lIns="0" tIns="0" rIns="0" bIns="0" rtlCol="0" anchor="ctr"/>
          <a:lstStyle/>
          <a:p>
            <a:pPr algn="r" indent="0" marL="0">
              <a:buNone/>
            </a:pPr>
            <a:r>
              <a:rPr lang="en-US" sz="1400" b="1" dirty="0">
                <a:solidFill>
                  <a:srgbClr val="C9A84C"/>
                </a:solidFill>
                <a:latin typeface="Calibri" pitchFamily="34" charset="0"/>
                <a:ea typeface="Calibri" pitchFamily="34" charset="-122"/>
                <a:cs typeface="Calibri" pitchFamily="34" charset="-120"/>
              </a:rPr>
              <a:t>0.904</a:t>
            </a:r>
            <a:endParaRPr lang="en-US" sz="1400" dirty="0"/>
          </a:p>
        </p:txBody>
      </p:sp>
      <p:sp>
        <p:nvSpPr>
          <p:cNvPr id="17" name="Shape 14"/>
          <p:cNvSpPr/>
          <p:nvPr/>
        </p:nvSpPr>
        <p:spPr>
          <a:xfrm>
            <a:off x="4892040" y="2770632"/>
            <a:ext cx="3886200" cy="0"/>
          </a:xfrm>
          <a:prstGeom prst="line">
            <a:avLst/>
          </a:prstGeom>
          <a:noFill/>
          <a:ln w="12700">
            <a:solidFill>
              <a:srgbClr val="2C3E5A"/>
            </a:solidFill>
            <a:prstDash val="solid"/>
          </a:ln>
        </p:spPr>
      </p:sp>
      <p:sp>
        <p:nvSpPr>
          <p:cNvPr id="18" name="Text 15"/>
          <p:cNvSpPr/>
          <p:nvPr/>
        </p:nvSpPr>
        <p:spPr>
          <a:xfrm>
            <a:off x="4892040" y="2880360"/>
            <a:ext cx="1828800" cy="384048"/>
          </a:xfrm>
          <a:prstGeom prst="rect">
            <a:avLst/>
          </a:prstGeom>
          <a:noFill/>
          <a:ln/>
        </p:spPr>
        <p:txBody>
          <a:bodyPr wrap="square" lIns="0" tIns="0" rIns="0" bIns="0" rtlCol="0" anchor="ctr"/>
          <a:lstStyle/>
          <a:p>
            <a:pPr indent="0" marL="0">
              <a:buNone/>
            </a:pPr>
            <a:r>
              <a:rPr lang="en-US" sz="1200" dirty="0">
                <a:solidFill>
                  <a:srgbClr val="9BB0CC"/>
                </a:solidFill>
                <a:latin typeface="Calibri" pitchFamily="34" charset="0"/>
                <a:ea typeface="Calibri" pitchFamily="34" charset="-122"/>
                <a:cs typeface="Calibri" pitchFamily="34" charset="-120"/>
              </a:rPr>
              <a:t>95% CI</a:t>
            </a:r>
            <a:endParaRPr lang="en-US" sz="1200" dirty="0"/>
          </a:p>
        </p:txBody>
      </p:sp>
      <p:sp>
        <p:nvSpPr>
          <p:cNvPr id="19" name="Text 16"/>
          <p:cNvSpPr/>
          <p:nvPr/>
        </p:nvSpPr>
        <p:spPr>
          <a:xfrm>
            <a:off x="6766560" y="2880360"/>
            <a:ext cx="2011680" cy="384048"/>
          </a:xfrm>
          <a:prstGeom prst="rect">
            <a:avLst/>
          </a:prstGeom>
          <a:noFill/>
          <a:ln/>
        </p:spPr>
        <p:txBody>
          <a:bodyPr wrap="square" lIns="0" tIns="0" rIns="0" bIns="0" rtlCol="0" anchor="ctr"/>
          <a:lstStyle/>
          <a:p>
            <a:pPr algn="r" indent="0" marL="0">
              <a:buNone/>
            </a:pPr>
            <a:r>
              <a:rPr lang="en-US" sz="1400" b="1" dirty="0">
                <a:solidFill>
                  <a:srgbClr val="C9A84C"/>
                </a:solidFill>
                <a:latin typeface="Calibri" pitchFamily="34" charset="0"/>
                <a:ea typeface="Calibri" pitchFamily="34" charset="-122"/>
                <a:cs typeface="Calibri" pitchFamily="34" charset="-120"/>
              </a:rPr>
              <a:t>[0.883, 0.922]</a:t>
            </a:r>
            <a:endParaRPr lang="en-US" sz="1400" dirty="0"/>
          </a:p>
        </p:txBody>
      </p:sp>
      <p:sp>
        <p:nvSpPr>
          <p:cNvPr id="20" name="Shape 17"/>
          <p:cNvSpPr/>
          <p:nvPr/>
        </p:nvSpPr>
        <p:spPr>
          <a:xfrm>
            <a:off x="4892040" y="3273552"/>
            <a:ext cx="3886200" cy="0"/>
          </a:xfrm>
          <a:prstGeom prst="line">
            <a:avLst/>
          </a:prstGeom>
          <a:noFill/>
          <a:ln w="12700">
            <a:solidFill>
              <a:srgbClr val="2C3E5A"/>
            </a:solidFill>
            <a:prstDash val="solid"/>
          </a:ln>
        </p:spPr>
      </p:sp>
      <p:sp>
        <p:nvSpPr>
          <p:cNvPr id="21" name="Text 18"/>
          <p:cNvSpPr/>
          <p:nvPr/>
        </p:nvSpPr>
        <p:spPr>
          <a:xfrm>
            <a:off x="4892040" y="3383280"/>
            <a:ext cx="1828800" cy="384048"/>
          </a:xfrm>
          <a:prstGeom prst="rect">
            <a:avLst/>
          </a:prstGeom>
          <a:noFill/>
          <a:ln/>
        </p:spPr>
        <p:txBody>
          <a:bodyPr wrap="square" lIns="0" tIns="0" rIns="0" bIns="0" rtlCol="0" anchor="ctr"/>
          <a:lstStyle/>
          <a:p>
            <a:pPr indent="0" marL="0">
              <a:buNone/>
            </a:pPr>
            <a:r>
              <a:rPr lang="en-US" sz="1200" dirty="0">
                <a:solidFill>
                  <a:srgbClr val="9BB0CC"/>
                </a:solidFill>
                <a:latin typeface="Calibri" pitchFamily="34" charset="0"/>
                <a:ea typeface="Calibri" pitchFamily="34" charset="-122"/>
                <a:cs typeface="Calibri" pitchFamily="34" charset="-120"/>
              </a:rPr>
              <a:t>PR-AUC</a:t>
            </a:r>
            <a:endParaRPr lang="en-US" sz="1200" dirty="0"/>
          </a:p>
        </p:txBody>
      </p:sp>
      <p:sp>
        <p:nvSpPr>
          <p:cNvPr id="22" name="Text 19"/>
          <p:cNvSpPr/>
          <p:nvPr/>
        </p:nvSpPr>
        <p:spPr>
          <a:xfrm>
            <a:off x="6766560" y="3383280"/>
            <a:ext cx="2011680" cy="384048"/>
          </a:xfrm>
          <a:prstGeom prst="rect">
            <a:avLst/>
          </a:prstGeom>
          <a:noFill/>
          <a:ln/>
        </p:spPr>
        <p:txBody>
          <a:bodyPr wrap="square" lIns="0" tIns="0" rIns="0" bIns="0" rtlCol="0" anchor="ctr"/>
          <a:lstStyle/>
          <a:p>
            <a:pPr algn="r" indent="0" marL="0">
              <a:buNone/>
            </a:pPr>
            <a:r>
              <a:rPr lang="en-US" sz="1400" b="1" dirty="0">
                <a:solidFill>
                  <a:srgbClr val="C9A84C"/>
                </a:solidFill>
                <a:latin typeface="Calibri" pitchFamily="34" charset="0"/>
                <a:ea typeface="Calibri" pitchFamily="34" charset="-122"/>
                <a:cs typeface="Calibri" pitchFamily="34" charset="-120"/>
              </a:rPr>
              <a:t>0.938</a:t>
            </a:r>
            <a:endParaRPr lang="en-US" sz="1400" dirty="0"/>
          </a:p>
        </p:txBody>
      </p:sp>
      <p:sp>
        <p:nvSpPr>
          <p:cNvPr id="23" name="Shape 20"/>
          <p:cNvSpPr/>
          <p:nvPr/>
        </p:nvSpPr>
        <p:spPr>
          <a:xfrm>
            <a:off x="4892040" y="3776472"/>
            <a:ext cx="3886200" cy="0"/>
          </a:xfrm>
          <a:prstGeom prst="line">
            <a:avLst/>
          </a:prstGeom>
          <a:noFill/>
          <a:ln w="12700">
            <a:solidFill>
              <a:srgbClr val="2C3E5A"/>
            </a:solidFill>
            <a:prstDash val="solid"/>
          </a:ln>
        </p:spPr>
      </p:sp>
      <p:sp>
        <p:nvSpPr>
          <p:cNvPr id="24" name="Text 21"/>
          <p:cNvSpPr/>
          <p:nvPr/>
        </p:nvSpPr>
        <p:spPr>
          <a:xfrm>
            <a:off x="4892040" y="3886200"/>
            <a:ext cx="1828800" cy="384048"/>
          </a:xfrm>
          <a:prstGeom prst="rect">
            <a:avLst/>
          </a:prstGeom>
          <a:noFill/>
          <a:ln/>
        </p:spPr>
        <p:txBody>
          <a:bodyPr wrap="square" lIns="0" tIns="0" rIns="0" bIns="0" rtlCol="0" anchor="ctr"/>
          <a:lstStyle/>
          <a:p>
            <a:pPr indent="0" marL="0">
              <a:buNone/>
            </a:pPr>
            <a:r>
              <a:rPr lang="en-US" sz="1200" dirty="0">
                <a:solidFill>
                  <a:srgbClr val="9BB0CC"/>
                </a:solidFill>
                <a:latin typeface="Calibri" pitchFamily="34" charset="0"/>
                <a:ea typeface="Calibri" pitchFamily="34" charset="-122"/>
                <a:cs typeface="Calibri" pitchFamily="34" charset="-120"/>
              </a:rPr>
              <a:t>Brier (↓)</a:t>
            </a:r>
            <a:endParaRPr lang="en-US" sz="1200" dirty="0"/>
          </a:p>
        </p:txBody>
      </p:sp>
      <p:sp>
        <p:nvSpPr>
          <p:cNvPr id="25" name="Text 22"/>
          <p:cNvSpPr/>
          <p:nvPr/>
        </p:nvSpPr>
        <p:spPr>
          <a:xfrm>
            <a:off x="6766560" y="3886200"/>
            <a:ext cx="2011680" cy="384048"/>
          </a:xfrm>
          <a:prstGeom prst="rect">
            <a:avLst/>
          </a:prstGeom>
          <a:noFill/>
          <a:ln/>
        </p:spPr>
        <p:txBody>
          <a:bodyPr wrap="square" lIns="0" tIns="0" rIns="0" bIns="0" rtlCol="0" anchor="ctr"/>
          <a:lstStyle/>
          <a:p>
            <a:pPr algn="r" indent="0" marL="0">
              <a:buNone/>
            </a:pPr>
            <a:r>
              <a:rPr lang="en-US" sz="1400" b="1" dirty="0">
                <a:solidFill>
                  <a:srgbClr val="C9A84C"/>
                </a:solidFill>
                <a:latin typeface="Calibri" pitchFamily="34" charset="0"/>
                <a:ea typeface="Calibri" pitchFamily="34" charset="-122"/>
                <a:cs typeface="Calibri" pitchFamily="34" charset="-120"/>
              </a:rPr>
              <a:t>0.124</a:t>
            </a:r>
            <a:endParaRPr lang="en-US" sz="1400" dirty="0"/>
          </a:p>
        </p:txBody>
      </p:sp>
      <p:sp>
        <p:nvSpPr>
          <p:cNvPr id="26" name="Shape 23"/>
          <p:cNvSpPr/>
          <p:nvPr/>
        </p:nvSpPr>
        <p:spPr>
          <a:xfrm>
            <a:off x="228600" y="4617720"/>
            <a:ext cx="8641080" cy="41148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27" name="Text 24"/>
          <p:cNvSpPr/>
          <p:nvPr/>
        </p:nvSpPr>
        <p:spPr>
          <a:xfrm>
            <a:off x="365760" y="4636008"/>
            <a:ext cx="8412480" cy="384048"/>
          </a:xfrm>
          <a:prstGeom prst="rect">
            <a:avLst/>
          </a:prstGeom>
          <a:noFill/>
          <a:ln/>
        </p:spPr>
        <p:txBody>
          <a:bodyPr wrap="square" lIns="0" tIns="0" rIns="0" bIns="0" rtlCol="0" anchor="ctr"/>
          <a:lstStyle/>
          <a:p>
            <a:pPr algn="ctr" indent="0" marL="0">
              <a:buNone/>
            </a:pPr>
            <a:r>
              <a:rPr lang="en-US" sz="1100" b="1" dirty="0">
                <a:solidFill>
                  <a:srgbClr val="C9A84C"/>
                </a:solidFill>
                <a:latin typeface="Calibri" pitchFamily="34" charset="0"/>
                <a:ea typeface="Calibri" pitchFamily="34" charset="-122"/>
                <a:cs typeface="Calibri" pitchFamily="34" charset="-120"/>
              </a:rPr>
              <a:t>All three AUC CIs are non-overlapping </a:t>
            </a:r>
            <a:pPr algn="ctr" indent="0" marL="0">
              <a:buNone/>
            </a:pPr>
            <a:r>
              <a:rPr lang="en-US" sz="1100" dirty="0">
                <a:solidFill>
                  <a:srgbClr val="F0F4FA"/>
                </a:solidFill>
                <a:latin typeface="Calibri" pitchFamily="34" charset="0"/>
                <a:ea typeface="Calibri" pitchFamily="34" charset="-122"/>
                <a:cs typeface="Calibri" pitchFamily="34" charset="-120"/>
              </a:rPr>
              <a:t>→ ranking is statistically robust on this test set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7B1E2C"/>
          </a:solidFill>
          <a:ln w="12700">
            <a:solidFill>
              <a:srgbClr val="7B1E2C"/>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Statistical Significance &amp; Multi-seed Robustness</a:t>
            </a:r>
            <a:endParaRPr lang="en-US" sz="2400" dirty="0"/>
          </a:p>
        </p:txBody>
      </p:sp>
      <p:sp>
        <p:nvSpPr>
          <p:cNvPr id="4" name="Shape 2"/>
          <p:cNvSpPr/>
          <p:nvPr/>
        </p:nvSpPr>
        <p:spPr>
          <a:xfrm>
            <a:off x="457200" y="749808"/>
            <a:ext cx="1097280" cy="32004"/>
          </a:xfrm>
          <a:prstGeom prst="rect">
            <a:avLst/>
          </a:prstGeom>
          <a:solidFill>
            <a:srgbClr val="C9A84C"/>
          </a:solidFill>
          <a:ln w="12700">
            <a:solidFill>
              <a:srgbClr val="C9A84C"/>
            </a:solidFill>
            <a:prstDash val="solid"/>
          </a:ln>
        </p:spPr>
      </p:sp>
      <p:sp>
        <p:nvSpPr>
          <p:cNvPr id="5" name="Shape 3"/>
          <p:cNvSpPr/>
          <p:nvPr/>
        </p:nvSpPr>
        <p:spPr>
          <a:xfrm>
            <a:off x="320040" y="960120"/>
            <a:ext cx="4114800" cy="361188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20040" y="960120"/>
            <a:ext cx="1828800" cy="292608"/>
          </a:xfrm>
          <a:prstGeom prst="rect">
            <a:avLst/>
          </a:prstGeom>
          <a:solidFill>
            <a:srgbClr val="7B1E2C"/>
          </a:solidFill>
          <a:ln w="12700">
            <a:solidFill>
              <a:srgbClr val="7B1E2C"/>
            </a:solidFill>
            <a:prstDash val="solid"/>
          </a:ln>
          <a:effectLst>
            <a:outerShdw sx="100000" sy="100000" kx="0" ky="0" algn="bl" rotWithShape="0" blurRad="101600" dist="38100" dir="8100000">
              <a:srgbClr val="000000">
                <a:alpha val="25000"/>
              </a:srgbClr>
            </a:outerShdw>
          </a:effectLst>
        </p:spPr>
      </p:sp>
      <p:sp>
        <p:nvSpPr>
          <p:cNvPr id="7" name="Text 5"/>
          <p:cNvSpPr/>
          <p:nvPr/>
        </p:nvSpPr>
        <p:spPr>
          <a:xfrm>
            <a:off x="320040" y="960120"/>
            <a:ext cx="18288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MCNEMAR'S TEST</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3749040" cy="1828800"/>
        </p:xfrm>
        <a:graphic>
          <a:graphicData uri="http://schemas.openxmlformats.org/drawingml/2006/table">
            <a:tbl>
              <a:tblPr/>
              <a:tblGrid>
                <a:gridCol w="1554480"/>
                <a:gridCol w="914400"/>
                <a:gridCol w="128016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Comparison</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7B1E2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χ²</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7B1E2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p-value</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7B1E2C"/>
                    </a:solidFill>
                  </a:tcPr>
                </a:tc>
              </a:tr>
              <a:tr h="384048">
                <a:tc>
                  <a:txBody>
                    <a:bodyPr/>
                    <a:lstStyle/>
                    <a:p>
                      <a:pPr indent="0" marL="0">
                        <a:buNone/>
                      </a:pPr>
                      <a:r>
                        <a:rPr lang="en-US" sz="1200" dirty="0">
                          <a:solidFill>
                            <a:srgbClr val="F0F4FA"/>
                          </a:solidFill>
                          <a:latin typeface="Calibri" pitchFamily="34" charset="0"/>
                          <a:ea typeface="Calibri" pitchFamily="34" charset="-122"/>
                          <a:cs typeface="Calibri" pitchFamily="34" charset="-120"/>
                        </a:rPr>
                        <a:t>LR vs SVM</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c>
                  <a:txBody>
                    <a:bodyPr/>
                    <a:lstStyle/>
                    <a:p>
                      <a:pPr indent="0" marL="0">
                        <a:buNone/>
                      </a:pPr>
                      <a:r>
                        <a:rPr lang="en-US" sz="1200" dirty="0">
                          <a:solidFill>
                            <a:srgbClr val="F0F4FA"/>
                          </a:solidFill>
                          <a:latin typeface="Calibri" pitchFamily="34" charset="0"/>
                          <a:ea typeface="Calibri" pitchFamily="34" charset="-122"/>
                          <a:cs typeface="Calibri" pitchFamily="34" charset="-120"/>
                        </a:rPr>
                        <a:t>11.84</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c>
                  <a:txBody>
                    <a:bodyPr/>
                    <a:lstStyle/>
                    <a:p>
                      <a:pPr indent="0" marL="0">
                        <a:buNone/>
                      </a:pPr>
                      <a:r>
                        <a:rPr lang="en-US" sz="1200" dirty="0">
                          <a:solidFill>
                            <a:srgbClr val="F0F4FA"/>
                          </a:solidFill>
                          <a:latin typeface="Calibri" pitchFamily="34" charset="0"/>
                          <a:ea typeface="Calibri" pitchFamily="34" charset="-122"/>
                          <a:cs typeface="Calibri" pitchFamily="34" charset="-120"/>
                        </a:rPr>
                        <a:t>5.8 × 10⁻⁴</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r>
              <a:tr h="384048">
                <a:tc>
                  <a:txBody>
                    <a:bodyPr/>
                    <a:lstStyle/>
                    <a:p>
                      <a:pPr indent="0" marL="0">
                        <a:buNone/>
                      </a:pPr>
                      <a:r>
                        <a:rPr lang="en-US" sz="1200" dirty="0">
                          <a:solidFill>
                            <a:srgbClr val="F0F4FA"/>
                          </a:solidFill>
                          <a:latin typeface="Calibri" pitchFamily="34" charset="0"/>
                          <a:ea typeface="Calibri" pitchFamily="34" charset="-122"/>
                          <a:cs typeface="Calibri" pitchFamily="34" charset="-120"/>
                        </a:rPr>
                        <a:t>LR vs RF</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c>
                  <a:txBody>
                    <a:bodyPr/>
                    <a:lstStyle/>
                    <a:p>
                      <a:pPr indent="0" marL="0">
                        <a:buNone/>
                      </a:pPr>
                      <a:r>
                        <a:rPr lang="en-US" sz="1200" dirty="0">
                          <a:solidFill>
                            <a:srgbClr val="F0F4FA"/>
                          </a:solidFill>
                          <a:latin typeface="Calibri" pitchFamily="34" charset="0"/>
                          <a:ea typeface="Calibri" pitchFamily="34" charset="-122"/>
                          <a:cs typeface="Calibri" pitchFamily="34" charset="-120"/>
                        </a:rPr>
                        <a:t>41.54</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c>
                  <a:txBody>
                    <a:bodyPr/>
                    <a:lstStyle/>
                    <a:p>
                      <a:pPr indent="0" marL="0">
                        <a:buNone/>
                      </a:pPr>
                      <a:r>
                        <a:rPr lang="en-US" sz="1200" dirty="0">
                          <a:solidFill>
                            <a:srgbClr val="F0F4FA"/>
                          </a:solidFill>
                          <a:latin typeface="Calibri" pitchFamily="34" charset="0"/>
                          <a:ea typeface="Calibri" pitchFamily="34" charset="-122"/>
                          <a:cs typeface="Calibri" pitchFamily="34" charset="-120"/>
                        </a:rPr>
                        <a:t>1.2 × 10⁻¹⁰</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r>
              <a:tr h="384048">
                <a:tc>
                  <a:txBody>
                    <a:bodyPr/>
                    <a:lstStyle/>
                    <a:p>
                      <a:pPr indent="0" marL="0">
                        <a:buNone/>
                      </a:pPr>
                      <a:r>
                        <a:rPr lang="en-US" sz="1200" dirty="0">
                          <a:solidFill>
                            <a:srgbClr val="F0F4FA"/>
                          </a:solidFill>
                          <a:latin typeface="Calibri" pitchFamily="34" charset="0"/>
                          <a:ea typeface="Calibri" pitchFamily="34" charset="-122"/>
                          <a:cs typeface="Calibri" pitchFamily="34" charset="-120"/>
                        </a:rPr>
                        <a:t>SVM vs RF</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c>
                  <a:txBody>
                    <a:bodyPr/>
                    <a:lstStyle/>
                    <a:p>
                      <a:pPr indent="0" marL="0">
                        <a:buNone/>
                      </a:pPr>
                      <a:r>
                        <a:rPr lang="en-US" sz="1200" dirty="0">
                          <a:solidFill>
                            <a:srgbClr val="F0F4FA"/>
                          </a:solidFill>
                          <a:latin typeface="Calibri" pitchFamily="34" charset="0"/>
                          <a:ea typeface="Calibri" pitchFamily="34" charset="-122"/>
                          <a:cs typeface="Calibri" pitchFamily="34" charset="-120"/>
                        </a:rPr>
                        <a:t>19.38</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c>
                  <a:txBody>
                    <a:bodyPr/>
                    <a:lstStyle/>
                    <a:p>
                      <a:pPr indent="0" marL="0">
                        <a:buNone/>
                      </a:pPr>
                      <a:r>
                        <a:rPr lang="en-US" sz="1200" dirty="0">
                          <a:solidFill>
                            <a:srgbClr val="F0F4FA"/>
                          </a:solidFill>
                          <a:latin typeface="Calibri" pitchFamily="34" charset="0"/>
                          <a:ea typeface="Calibri" pitchFamily="34" charset="-122"/>
                          <a:cs typeface="Calibri" pitchFamily="34" charset="-120"/>
                        </a:rPr>
                        <a:t>1.1 × 10⁻⁵</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r>
            </a:tbl>
          </a:graphicData>
        </a:graphic>
      </p:graphicFrame>
      <p:sp>
        <p:nvSpPr>
          <p:cNvPr id="9" name="Text 6"/>
          <p:cNvSpPr/>
          <p:nvPr/>
        </p:nvSpPr>
        <p:spPr>
          <a:xfrm>
            <a:off x="502920" y="3383280"/>
            <a:ext cx="3749040" cy="914400"/>
          </a:xfrm>
          <a:prstGeom prst="rect">
            <a:avLst/>
          </a:prstGeom>
          <a:noFill/>
          <a:ln/>
        </p:spPr>
        <p:txBody>
          <a:bodyPr wrap="square" lIns="0" tIns="0" rIns="0" bIns="0" rtlCol="0" anchor="ctr"/>
          <a:lstStyle/>
          <a:p>
            <a:pPr indent="0" marL="0">
              <a:buNone/>
            </a:pPr>
            <a:r>
              <a:rPr lang="en-US" sz="1150" b="1" dirty="0">
                <a:solidFill>
                  <a:srgbClr val="C9A84C"/>
                </a:solidFill>
                <a:latin typeface="Calibri" pitchFamily="34" charset="0"/>
                <a:ea typeface="Calibri" pitchFamily="34" charset="-122"/>
                <a:cs typeface="Calibri" pitchFamily="34" charset="-120"/>
              </a:rPr>
              <a:t>All p-values &lt; 0.001
</a:t>
            </a:r>
            <a:endParaRPr lang="en-US" sz="1150" dirty="0"/>
          </a:p>
          <a:p>
            <a:pPr indent="0" marL="0">
              <a:buNone/>
            </a:pPr>
            <a:r>
              <a:rPr lang="en-US" sz="1150" i="1" dirty="0">
                <a:solidFill>
                  <a:srgbClr val="9BB0CC"/>
                </a:solidFill>
                <a:latin typeface="Calibri" pitchFamily="34" charset="0"/>
                <a:ea typeface="Calibri" pitchFamily="34" charset="-122"/>
                <a:cs typeface="Calibri" pitchFamily="34" charset="-120"/>
              </a:rPr>
              <a:t>Pairwise differences are highly significant</a:t>
            </a:r>
            <a:endParaRPr lang="en-US" sz="1150" dirty="0"/>
          </a:p>
        </p:txBody>
      </p:sp>
      <p:sp>
        <p:nvSpPr>
          <p:cNvPr id="10" name="Shape 7"/>
          <p:cNvSpPr/>
          <p:nvPr/>
        </p:nvSpPr>
        <p:spPr>
          <a:xfrm>
            <a:off x="4709160" y="960120"/>
            <a:ext cx="4114800" cy="361188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11" name="Shape 8"/>
          <p:cNvSpPr/>
          <p:nvPr/>
        </p:nvSpPr>
        <p:spPr>
          <a:xfrm>
            <a:off x="4709160" y="960120"/>
            <a:ext cx="2560320" cy="292608"/>
          </a:xfrm>
          <a:prstGeom prst="rect">
            <a:avLst/>
          </a:prstGeom>
          <a:solidFill>
            <a:srgbClr val="7B1E2C"/>
          </a:solidFill>
          <a:ln w="12700">
            <a:solidFill>
              <a:srgbClr val="7B1E2C"/>
            </a:solidFill>
            <a:prstDash val="solid"/>
          </a:ln>
          <a:effectLst>
            <a:outerShdw sx="100000" sy="100000" kx="0" ky="0" algn="bl" rotWithShape="0" blurRad="101600" dist="38100" dir="8100000">
              <a:srgbClr val="000000">
                <a:alpha val="25000"/>
              </a:srgbClr>
            </a:outerShdw>
          </a:effectLst>
        </p:spPr>
      </p:sp>
      <p:sp>
        <p:nvSpPr>
          <p:cNvPr id="12" name="Text 9"/>
          <p:cNvSpPr/>
          <p:nvPr/>
        </p:nvSpPr>
        <p:spPr>
          <a:xfrm>
            <a:off x="4709160" y="960120"/>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MULTI-SEED BOXPLOT (5 SEEDS)</a:t>
            </a:r>
            <a:endParaRPr lang="en-US" sz="1000" dirty="0"/>
          </a:p>
        </p:txBody>
      </p:sp>
      <p:pic>
        <p:nvPicPr>
          <p:cNvPr id="13" name="Image 0" descr="/Users/moka/Documents/EE559/Project/figures/multiseed_boxplot.png">    </p:cNvPr>
          <p:cNvPicPr>
            <a:picLocks noChangeAspect="1"/>
          </p:cNvPicPr>
          <p:nvPr/>
        </p:nvPicPr>
        <p:blipFill>
          <a:blip r:embed="rId1"/>
          <a:stretch>
            <a:fillRect/>
          </a:stretch>
        </p:blipFill>
        <p:spPr>
          <a:xfrm>
            <a:off x="4800600" y="1371600"/>
            <a:ext cx="3931920" cy="2743200"/>
          </a:xfrm>
          <a:prstGeom prst="rect">
            <a:avLst/>
          </a:prstGeom>
        </p:spPr>
      </p:pic>
      <p:sp>
        <p:nvSpPr>
          <p:cNvPr id="14" name="Text 10"/>
          <p:cNvSpPr/>
          <p:nvPr/>
        </p:nvSpPr>
        <p:spPr>
          <a:xfrm>
            <a:off x="4892040" y="4160520"/>
            <a:ext cx="3749040" cy="365760"/>
          </a:xfrm>
          <a:prstGeom prst="rect">
            <a:avLst/>
          </a:prstGeom>
          <a:noFill/>
          <a:ln/>
        </p:spPr>
        <p:txBody>
          <a:bodyPr wrap="square" lIns="0" tIns="0" rIns="0" bIns="0" rtlCol="0" anchor="ctr"/>
          <a:lstStyle/>
          <a:p>
            <a:pPr indent="0" marL="0">
              <a:buNone/>
            </a:pPr>
            <a:r>
              <a:rPr lang="en-US" sz="1050" b="1" dirty="0">
                <a:solidFill>
                  <a:srgbClr val="C9A84C"/>
                </a:solidFill>
                <a:latin typeface="Calibri" pitchFamily="34" charset="0"/>
                <a:ea typeface="Calibri" pitchFamily="34" charset="-122"/>
                <a:cs typeface="Calibri" pitchFamily="34" charset="-120"/>
              </a:rPr>
              <a:t>Boxes are disjoint → </a:t>
            </a:r>
            <a:pPr indent="0" marL="0">
              <a:buNone/>
            </a:pPr>
            <a:r>
              <a:rPr lang="en-US" sz="1050" i="1" dirty="0">
                <a:solidFill>
                  <a:srgbClr val="9BB0CC"/>
                </a:solidFill>
                <a:latin typeface="Calibri" pitchFamily="34" charset="0"/>
                <a:ea typeface="Calibri" pitchFamily="34" charset="-122"/>
                <a:cs typeface="Calibri" pitchFamily="34" charset="-120"/>
              </a:rPr>
              <a:t>ranking is robust across splits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7B1E2C"/>
          </a:solidFill>
          <a:ln w="12700">
            <a:solidFill>
              <a:srgbClr val="7B1E2C"/>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Per-Class — Operational Cost Trade-off</a:t>
            </a:r>
            <a:endParaRPr lang="en-US" sz="2400" dirty="0"/>
          </a:p>
        </p:txBody>
      </p:sp>
      <p:sp>
        <p:nvSpPr>
          <p:cNvPr id="4" name="Shape 2"/>
          <p:cNvSpPr/>
          <p:nvPr/>
        </p:nvSpPr>
        <p:spPr>
          <a:xfrm>
            <a:off x="457200" y="749808"/>
            <a:ext cx="1097280" cy="32004"/>
          </a:xfrm>
          <a:prstGeom prst="rect">
            <a:avLst/>
          </a:prstGeom>
          <a:solidFill>
            <a:srgbClr val="C9A84C"/>
          </a:solidFill>
          <a:ln w="12700">
            <a:solidFill>
              <a:srgbClr val="C9A84C"/>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20040" y="932688"/>
          <a:ext cx="8503920" cy="2194560"/>
        </p:xfrm>
        <a:graphic>
          <a:graphicData uri="http://schemas.openxmlformats.org/drawingml/2006/table">
            <a:tbl>
              <a:tblPr/>
              <a:tblGrid>
                <a:gridCol w="2194560"/>
                <a:gridCol w="1463040"/>
                <a:gridCol w="1554480"/>
                <a:gridCol w="1554480"/>
                <a:gridCol w="173736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7B1E2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Low Prec.</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7B1E2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Low Recall</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7B1E2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Low F1</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7B1E2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High F1</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7B1E2C"/>
                    </a:solidFill>
                  </a:tcPr>
                </a:tc>
              </a:tr>
              <a:tr h="457200">
                <a:tc>
                  <a:txBody>
                    <a:bodyPr/>
                    <a:lstStyle/>
                    <a:p>
                      <a:pPr indent="0" marL="0">
                        <a:buNone/>
                      </a:pPr>
                      <a:r>
                        <a:rPr lang="en-US" sz="1200" dirty="0">
                          <a:solidFill>
                            <a:srgbClr val="F0F4FA"/>
                          </a:solidFill>
                          <a:latin typeface="Calibri" pitchFamily="34" charset="0"/>
                          <a:ea typeface="Calibri" pitchFamily="34" charset="-122"/>
                          <a:cs typeface="Calibri" pitchFamily="34" charset="-120"/>
                        </a:rPr>
                        <a:t>Logistic Reg.</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c>
                  <a:txBody>
                    <a:bodyPr/>
                    <a:lstStyle/>
                    <a:p>
                      <a:pPr indent="0" marL="0">
                        <a:buNone/>
                      </a:pPr>
                      <a:r>
                        <a:rPr lang="en-US" sz="1200" dirty="0">
                          <a:solidFill>
                            <a:srgbClr val="F0F4FA"/>
                          </a:solidFill>
                          <a:latin typeface="Calibri" pitchFamily="34" charset="0"/>
                          <a:ea typeface="Calibri" pitchFamily="34" charset="-122"/>
                          <a:cs typeface="Calibri" pitchFamily="34" charset="-120"/>
                        </a:rPr>
                        <a:t>0.614</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c>
                  <a:txBody>
                    <a:bodyPr/>
                    <a:lstStyle/>
                    <a:p>
                      <a:pPr indent="0" marL="0">
                        <a:buNone/>
                      </a:pPr>
                      <a:r>
                        <a:rPr lang="en-US" sz="1200" dirty="0">
                          <a:solidFill>
                            <a:srgbClr val="F0F4FA"/>
                          </a:solidFill>
                          <a:latin typeface="Calibri" pitchFamily="34" charset="0"/>
                          <a:ea typeface="Calibri" pitchFamily="34" charset="-122"/>
                          <a:cs typeface="Calibri" pitchFamily="34" charset="-120"/>
                        </a:rPr>
                        <a:t>0.743</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c>
                  <a:txBody>
                    <a:bodyPr/>
                    <a:lstStyle/>
                    <a:p>
                      <a:pPr indent="0" marL="0">
                        <a:buNone/>
                      </a:pPr>
                      <a:r>
                        <a:rPr lang="en-US" sz="1200" dirty="0">
                          <a:solidFill>
                            <a:srgbClr val="F0F4FA"/>
                          </a:solidFill>
                          <a:latin typeface="Calibri" pitchFamily="34" charset="0"/>
                          <a:ea typeface="Calibri" pitchFamily="34" charset="-122"/>
                          <a:cs typeface="Calibri" pitchFamily="34" charset="-120"/>
                        </a:rPr>
                        <a:t>0.673</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c>
                  <a:txBody>
                    <a:bodyPr/>
                    <a:lstStyle/>
                    <a:p>
                      <a:pPr indent="0" marL="0">
                        <a:buNone/>
                      </a:pPr>
                      <a:r>
                        <a:rPr lang="en-US" sz="1200" dirty="0">
                          <a:solidFill>
                            <a:srgbClr val="F0F4FA"/>
                          </a:solidFill>
                          <a:latin typeface="Calibri" pitchFamily="34" charset="0"/>
                          <a:ea typeface="Calibri" pitchFamily="34" charset="-122"/>
                          <a:cs typeface="Calibri" pitchFamily="34" charset="-120"/>
                        </a:rPr>
                        <a:t>0.777</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E3A5F"/>
                    </a:solidFill>
                  </a:tcPr>
                </a:tc>
              </a:tr>
              <a:tr h="457200">
                <a:tc>
                  <a:txBody>
                    <a:bodyPr/>
                    <a:lstStyle/>
                    <a:p>
                      <a:pPr indent="0" marL="0">
                        <a:buNone/>
                      </a:pPr>
                      <a:r>
                        <a:rPr lang="en-US" sz="1200" b="1" dirty="0">
                          <a:solidFill>
                            <a:srgbClr val="E8A040"/>
                          </a:solidFill>
                          <a:latin typeface="Calibri" pitchFamily="34" charset="0"/>
                          <a:ea typeface="Calibri" pitchFamily="34" charset="-122"/>
                          <a:cs typeface="Calibri" pitchFamily="34" charset="-120"/>
                        </a:rPr>
                        <a:t>SVM (RBF) ★</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52338"/>
                    </a:solidFill>
                  </a:tcPr>
                </a:tc>
                <a:tc>
                  <a:txBody>
                    <a:bodyPr/>
                    <a:lstStyle/>
                    <a:p>
                      <a:pPr indent="0" marL="0">
                        <a:buNone/>
                      </a:pPr>
                      <a:r>
                        <a:rPr lang="en-US" sz="1200" dirty="0">
                          <a:solidFill>
                            <a:srgbClr val="F0F4FA"/>
                          </a:solidFill>
                          <a:latin typeface="Calibri" pitchFamily="34" charset="0"/>
                          <a:ea typeface="Calibri" pitchFamily="34" charset="-122"/>
                          <a:cs typeface="Calibri" pitchFamily="34" charset="-120"/>
                        </a:rPr>
                        <a:t>0.663</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52338"/>
                    </a:solidFill>
                  </a:tcPr>
                </a:tc>
                <a:tc>
                  <a:txBody>
                    <a:bodyPr/>
                    <a:lstStyle/>
                    <a:p>
                      <a:pPr indent="0" marL="0">
                        <a:buNone/>
                      </a:pPr>
                      <a:r>
                        <a:rPr lang="en-US" sz="1200" b="1" dirty="0">
                          <a:solidFill>
                            <a:srgbClr val="E8A040"/>
                          </a:solidFill>
                          <a:latin typeface="Calibri" pitchFamily="34" charset="0"/>
                          <a:ea typeface="Calibri" pitchFamily="34" charset="-122"/>
                          <a:cs typeface="Calibri" pitchFamily="34" charset="-120"/>
                        </a:rPr>
                        <a:t>0.796</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52338"/>
                    </a:solidFill>
                  </a:tcPr>
                </a:tc>
                <a:tc>
                  <a:txBody>
                    <a:bodyPr/>
                    <a:lstStyle/>
                    <a:p>
                      <a:pPr indent="0" marL="0">
                        <a:buNone/>
                      </a:pPr>
                      <a:r>
                        <a:rPr lang="en-US" sz="1200" dirty="0">
                          <a:solidFill>
                            <a:srgbClr val="F0F4FA"/>
                          </a:solidFill>
                          <a:latin typeface="Calibri" pitchFamily="34" charset="0"/>
                          <a:ea typeface="Calibri" pitchFamily="34" charset="-122"/>
                          <a:cs typeface="Calibri" pitchFamily="34" charset="-120"/>
                        </a:rPr>
                        <a:t>0.723</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52338"/>
                    </a:solidFill>
                  </a:tcPr>
                </a:tc>
                <a:tc>
                  <a:txBody>
                    <a:bodyPr/>
                    <a:lstStyle/>
                    <a:p>
                      <a:pPr indent="0" marL="0">
                        <a:buNone/>
                      </a:pPr>
                      <a:r>
                        <a:rPr lang="en-US" sz="1200" dirty="0">
                          <a:solidFill>
                            <a:srgbClr val="F0F4FA"/>
                          </a:solidFill>
                          <a:latin typeface="Calibri" pitchFamily="34" charset="0"/>
                          <a:ea typeface="Calibri" pitchFamily="34" charset="-122"/>
                          <a:cs typeface="Calibri" pitchFamily="34" charset="-120"/>
                        </a:rPr>
                        <a:t>0.812</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52338"/>
                    </a:solidFill>
                  </a:tcPr>
                </a:tc>
              </a:tr>
              <a:tr h="457200">
                <a:tc>
                  <a:txBody>
                    <a:bodyPr/>
                    <a:lstStyle/>
                    <a:p>
                      <a:pPr indent="0" marL="0">
                        <a:buNone/>
                      </a:pPr>
                      <a:r>
                        <a:rPr lang="en-US" sz="1200" b="1" dirty="0">
                          <a:solidFill>
                            <a:srgbClr val="C9A84C"/>
                          </a:solidFill>
                          <a:latin typeface="Calibri" pitchFamily="34" charset="0"/>
                          <a:ea typeface="Calibri" pitchFamily="34" charset="-122"/>
                          <a:cs typeface="Calibri" pitchFamily="34" charset="-120"/>
                        </a:rPr>
                        <a:t>Random Forest ★</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A3020"/>
                    </a:solidFill>
                  </a:tcPr>
                </a:tc>
                <a:tc>
                  <a:txBody>
                    <a:bodyPr/>
                    <a:lstStyle/>
                    <a:p>
                      <a:pPr indent="0" marL="0">
                        <a:buNone/>
                      </a:pPr>
                      <a:r>
                        <a:rPr lang="en-US" sz="1200" b="1" dirty="0">
                          <a:solidFill>
                            <a:srgbClr val="C9A84C"/>
                          </a:solidFill>
                          <a:latin typeface="Calibri" pitchFamily="34" charset="0"/>
                          <a:ea typeface="Calibri" pitchFamily="34" charset="-122"/>
                          <a:cs typeface="Calibri" pitchFamily="34" charset="-120"/>
                        </a:rPr>
                        <a:t>0.801</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A3020"/>
                    </a:solidFill>
                  </a:tcPr>
                </a:tc>
                <a:tc>
                  <a:txBody>
                    <a:bodyPr/>
                    <a:lstStyle/>
                    <a:p>
                      <a:pPr indent="0" marL="0">
                        <a:buNone/>
                      </a:pPr>
                      <a:r>
                        <a:rPr lang="en-US" sz="1200" dirty="0">
                          <a:solidFill>
                            <a:srgbClr val="F0F4FA"/>
                          </a:solidFill>
                          <a:latin typeface="Calibri" pitchFamily="34" charset="0"/>
                          <a:ea typeface="Calibri" pitchFamily="34" charset="-122"/>
                          <a:cs typeface="Calibri" pitchFamily="34" charset="-120"/>
                        </a:rPr>
                        <a:t>0.710</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A3020"/>
                    </a:solidFill>
                  </a:tcPr>
                </a:tc>
                <a:tc>
                  <a:txBody>
                    <a:bodyPr/>
                    <a:lstStyle/>
                    <a:p>
                      <a:pPr indent="0" marL="0">
                        <a:buNone/>
                      </a:pPr>
                      <a:r>
                        <a:rPr lang="en-US" sz="1200" b="1" dirty="0">
                          <a:solidFill>
                            <a:srgbClr val="C9A84C"/>
                          </a:solidFill>
                          <a:latin typeface="Calibri" pitchFamily="34" charset="0"/>
                          <a:ea typeface="Calibri" pitchFamily="34" charset="-122"/>
                          <a:cs typeface="Calibri" pitchFamily="34" charset="-120"/>
                        </a:rPr>
                        <a:t>0.753</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A3020"/>
                    </a:solidFill>
                  </a:tcPr>
                </a:tc>
                <a:tc>
                  <a:txBody>
                    <a:bodyPr/>
                    <a:lstStyle/>
                    <a:p>
                      <a:pPr indent="0" marL="0">
                        <a:buNone/>
                      </a:pPr>
                      <a:r>
                        <a:rPr lang="en-US" sz="1200" b="1" dirty="0">
                          <a:solidFill>
                            <a:srgbClr val="C9A84C"/>
                          </a:solidFill>
                          <a:latin typeface="Calibri" pitchFamily="34" charset="0"/>
                          <a:ea typeface="Calibri" pitchFamily="34" charset="-122"/>
                          <a:cs typeface="Calibri" pitchFamily="34" charset="-120"/>
                        </a:rPr>
                        <a:t>0.869</a:t>
                      </a:r>
                      <a:endParaRPr lang="en-US" sz="1200" dirty="0">
                        <a:latin typeface="Calibri" charset="0"/>
                        <a:ea typeface="Calibri" charset="0"/>
                        <a:cs typeface="Calibri" charset="0"/>
                      </a:endParaRPr>
                    </a:p>
                  </a:txBody>
                  <a:tcPr marL="91440" marR="91440" marT="45720" marB="45720" anchor="ctr">
                    <a:lnL w="6350" cap="flat" cmpd="sng" algn="ctr">
                      <a:solidFill>
                        <a:srgbClr val="2C3E5A"/>
                      </a:solidFill>
                      <a:prstDash val="solid"/>
                      <a:round/>
                      <a:headEnd type="none" w="med" len="med"/>
                      <a:tailEnd type="none" w="med" len="med"/>
                    </a:lnL>
                    <a:lnR w="6350" cap="flat" cmpd="sng" algn="ctr">
                      <a:solidFill>
                        <a:srgbClr val="2C3E5A"/>
                      </a:solidFill>
                      <a:prstDash val="solid"/>
                      <a:round/>
                      <a:headEnd type="none" w="med" len="med"/>
                      <a:tailEnd type="none" w="med" len="med"/>
                    </a:lnR>
                    <a:lnT w="6350" cap="flat" cmpd="sng" algn="ctr">
                      <a:solidFill>
                        <a:srgbClr val="2C3E5A"/>
                      </a:solidFill>
                      <a:prstDash val="solid"/>
                      <a:round/>
                      <a:headEnd type="none" w="med" len="med"/>
                      <a:tailEnd type="none" w="med" len="med"/>
                    </a:lnT>
                    <a:lnB w="6350" cap="flat" cmpd="sng" algn="ctr">
                      <a:solidFill>
                        <a:srgbClr val="2C3E5A"/>
                      </a:solidFill>
                      <a:prstDash val="solid"/>
                      <a:round/>
                      <a:headEnd type="none" w="med" len="med"/>
                      <a:tailEnd type="none" w="med" len="med"/>
                    </a:lnB>
                    <a:solidFill>
                      <a:srgbClr val="1A3020"/>
                    </a:solidFill>
                  </a:tcPr>
                </a:tc>
              </a:tr>
            </a:tbl>
          </a:graphicData>
        </a:graphic>
      </p:graphicFrame>
      <p:sp>
        <p:nvSpPr>
          <p:cNvPr id="6" name="Shape 3"/>
          <p:cNvSpPr/>
          <p:nvPr/>
        </p:nvSpPr>
        <p:spPr>
          <a:xfrm>
            <a:off x="320040" y="3246120"/>
            <a:ext cx="4160520" cy="160020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7" name="Shape 4"/>
          <p:cNvSpPr/>
          <p:nvPr/>
        </p:nvSpPr>
        <p:spPr>
          <a:xfrm>
            <a:off x="320040" y="3246120"/>
            <a:ext cx="2286000" cy="292608"/>
          </a:xfrm>
          <a:prstGeom prst="rect">
            <a:avLst/>
          </a:prstGeom>
          <a:solidFill>
            <a:srgbClr val="7B1E2C"/>
          </a:solidFill>
          <a:ln w="12700">
            <a:solidFill>
              <a:srgbClr val="7B1E2C"/>
            </a:solidFill>
            <a:prstDash val="solid"/>
          </a:ln>
          <a:effectLst>
            <a:outerShdw sx="100000" sy="100000" kx="0" ky="0" algn="bl" rotWithShape="0" blurRad="101600" dist="38100" dir="8100000">
              <a:srgbClr val="000000">
                <a:alpha val="25000"/>
              </a:srgbClr>
            </a:outerShdw>
          </a:effectLst>
        </p:spPr>
      </p:sp>
      <p:sp>
        <p:nvSpPr>
          <p:cNvPr id="8" name="Text 5"/>
          <p:cNvSpPr/>
          <p:nvPr/>
        </p:nvSpPr>
        <p:spPr>
          <a:xfrm>
            <a:off x="320040" y="3246120"/>
            <a:ext cx="22860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WHEN TO PICK SVM</a:t>
            </a:r>
            <a:endParaRPr lang="en-US" sz="1000" dirty="0"/>
          </a:p>
        </p:txBody>
      </p:sp>
      <p:sp>
        <p:nvSpPr>
          <p:cNvPr id="9" name="Text 6"/>
          <p:cNvSpPr/>
          <p:nvPr/>
        </p:nvSpPr>
        <p:spPr>
          <a:xfrm>
            <a:off x="502920" y="3611880"/>
            <a:ext cx="3840480" cy="1188720"/>
          </a:xfrm>
          <a:prstGeom prst="rect">
            <a:avLst/>
          </a:prstGeom>
          <a:noFill/>
          <a:ln/>
        </p:spPr>
        <p:txBody>
          <a:bodyPr wrap="square" rtlCol="0" anchor="ctr"/>
          <a:lstStyle/>
          <a:p>
            <a:pPr indent="0" marL="0">
              <a:spcAft>
                <a:spcPts val="400"/>
              </a:spcAft>
              <a:buNone/>
            </a:pPr>
            <a:r>
              <a:rPr lang="en-US" sz="1150" b="1" dirty="0">
                <a:solidFill>
                  <a:srgbClr val="C9A84C"/>
                </a:solidFill>
                <a:latin typeface="Calibri" pitchFamily="34" charset="0"/>
                <a:ea typeface="Calibri" pitchFamily="34" charset="-122"/>
                <a:cs typeface="Calibri" pitchFamily="34" charset="-120"/>
              </a:rPr>
              <a:t>Highest low-quality recall (0.796)
</a:t>
            </a:r>
            <a:endParaRPr lang="en-US" sz="1150" dirty="0"/>
          </a:p>
          <a:p>
            <a:pPr indent="0" marL="0">
              <a:spcAft>
                <a:spcPts val="400"/>
              </a:spcAft>
              <a:buNone/>
            </a:pPr>
            <a:r>
              <a:rPr lang="en-US" sz="1150" dirty="0">
                <a:solidFill>
                  <a:srgbClr val="F0F4FA"/>
                </a:solidFill>
                <a:latin typeface="Calibri" pitchFamily="34" charset="0"/>
                <a:ea typeface="Calibri" pitchFamily="34" charset="-122"/>
                <a:cs typeface="Calibri" pitchFamily="34" charset="-120"/>
              </a:rPr>
              <a:t>Misses only 20% of defective bottles
</a:t>
            </a:r>
            <a:endParaRPr lang="en-US" sz="1150" dirty="0"/>
          </a:p>
          <a:p>
            <a:pPr indent="0" marL="0">
              <a:spcAft>
                <a:spcPts val="400"/>
              </a:spcAft>
              <a:buNone/>
            </a:pPr>
            <a:r>
              <a:rPr lang="en-US" sz="1150" b="1" dirty="0">
                <a:solidFill>
                  <a:srgbClr val="C9A84C"/>
                </a:solidFill>
                <a:latin typeface="Calibri" pitchFamily="34" charset="0"/>
                <a:ea typeface="Calibri" pitchFamily="34" charset="-122"/>
                <a:cs typeface="Calibri" pitchFamily="34" charset="-120"/>
              </a:rPr>
              <a:t>Best when: </a:t>
            </a:r>
            <a:pPr indent="0" marL="0">
              <a:spcAft>
                <a:spcPts val="400"/>
              </a:spcAft>
              <a:buNone/>
            </a:pPr>
            <a:r>
              <a:rPr lang="en-US" sz="1150" dirty="0">
                <a:solidFill>
                  <a:srgbClr val="F0F4FA"/>
                </a:solidFill>
                <a:latin typeface="Calibri" pitchFamily="34" charset="0"/>
                <a:ea typeface="Calibri" pitchFamily="34" charset="-122"/>
                <a:cs typeface="Calibri" pitchFamily="34" charset="-120"/>
              </a:rPr>
              <a:t>FN cost (shipping defective wine) &gt;&gt; FP cost</a:t>
            </a:r>
            <a:endParaRPr lang="en-US" sz="1150" dirty="0"/>
          </a:p>
        </p:txBody>
      </p:sp>
      <p:sp>
        <p:nvSpPr>
          <p:cNvPr id="10" name="Shape 7"/>
          <p:cNvSpPr/>
          <p:nvPr/>
        </p:nvSpPr>
        <p:spPr>
          <a:xfrm>
            <a:off x="4663440" y="3246120"/>
            <a:ext cx="4160520" cy="160020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11" name="Shape 8"/>
          <p:cNvSpPr/>
          <p:nvPr/>
        </p:nvSpPr>
        <p:spPr>
          <a:xfrm>
            <a:off x="4663440" y="3246120"/>
            <a:ext cx="2743200" cy="292608"/>
          </a:xfrm>
          <a:prstGeom prst="rect">
            <a:avLst/>
          </a:prstGeom>
          <a:solidFill>
            <a:srgbClr val="7B1E2C"/>
          </a:solidFill>
          <a:ln w="12700">
            <a:solidFill>
              <a:srgbClr val="7B1E2C"/>
            </a:solidFill>
            <a:prstDash val="solid"/>
          </a:ln>
          <a:effectLst>
            <a:outerShdw sx="100000" sy="100000" kx="0" ky="0" algn="bl" rotWithShape="0" blurRad="101600" dist="38100" dir="8100000">
              <a:srgbClr val="000000">
                <a:alpha val="25000"/>
              </a:srgbClr>
            </a:outerShdw>
          </a:effectLst>
        </p:spPr>
      </p:sp>
      <p:sp>
        <p:nvSpPr>
          <p:cNvPr id="12" name="Text 9"/>
          <p:cNvSpPr/>
          <p:nvPr/>
        </p:nvSpPr>
        <p:spPr>
          <a:xfrm>
            <a:off x="4663440" y="3246120"/>
            <a:ext cx="27432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WHEN TO PICK RANDOM FOREST</a:t>
            </a:r>
            <a:endParaRPr lang="en-US" sz="1000" dirty="0"/>
          </a:p>
        </p:txBody>
      </p:sp>
      <p:sp>
        <p:nvSpPr>
          <p:cNvPr id="13" name="Text 10"/>
          <p:cNvSpPr/>
          <p:nvPr/>
        </p:nvSpPr>
        <p:spPr>
          <a:xfrm>
            <a:off x="4846320" y="3611880"/>
            <a:ext cx="3840480" cy="1188720"/>
          </a:xfrm>
          <a:prstGeom prst="rect">
            <a:avLst/>
          </a:prstGeom>
          <a:noFill/>
          <a:ln/>
        </p:spPr>
        <p:txBody>
          <a:bodyPr wrap="square" rtlCol="0" anchor="ctr"/>
          <a:lstStyle/>
          <a:p>
            <a:pPr indent="0" marL="0">
              <a:spcAft>
                <a:spcPts val="400"/>
              </a:spcAft>
              <a:buNone/>
            </a:pPr>
            <a:r>
              <a:rPr lang="en-US" sz="1150" b="1" dirty="0">
                <a:solidFill>
                  <a:srgbClr val="C9A84C"/>
                </a:solidFill>
                <a:latin typeface="Calibri" pitchFamily="34" charset="0"/>
                <a:ea typeface="Calibri" pitchFamily="34" charset="-122"/>
                <a:cs typeface="Calibri" pitchFamily="34" charset="-120"/>
              </a:rPr>
              <a:t>Highest low-quality precision (0.801)
</a:t>
            </a:r>
            <a:endParaRPr lang="en-US" sz="1150" dirty="0"/>
          </a:p>
          <a:p>
            <a:pPr indent="0" marL="0">
              <a:spcAft>
                <a:spcPts val="400"/>
              </a:spcAft>
              <a:buNone/>
            </a:pPr>
            <a:r>
              <a:rPr lang="en-US" sz="1150" dirty="0">
                <a:solidFill>
                  <a:srgbClr val="F0F4FA"/>
                </a:solidFill>
                <a:latin typeface="Calibri" pitchFamily="34" charset="0"/>
                <a:ea typeface="Calibri" pitchFamily="34" charset="-122"/>
                <a:cs typeface="Calibri" pitchFamily="34" charset="-120"/>
              </a:rPr>
              <a:t>80% of low-quality alarms are real
</a:t>
            </a:r>
            <a:endParaRPr lang="en-US" sz="1150" dirty="0"/>
          </a:p>
          <a:p>
            <a:pPr indent="0" marL="0">
              <a:spcAft>
                <a:spcPts val="400"/>
              </a:spcAft>
              <a:buNone/>
            </a:pPr>
            <a:r>
              <a:rPr lang="en-US" sz="1150" b="1" dirty="0">
                <a:solidFill>
                  <a:srgbClr val="C9A84C"/>
                </a:solidFill>
                <a:latin typeface="Calibri" pitchFamily="34" charset="0"/>
                <a:ea typeface="Calibri" pitchFamily="34" charset="-122"/>
                <a:cs typeface="Calibri" pitchFamily="34" charset="-120"/>
              </a:rPr>
              <a:t>Best when: </a:t>
            </a:r>
            <a:pPr indent="0" marL="0">
              <a:spcAft>
                <a:spcPts val="400"/>
              </a:spcAft>
              <a:buNone/>
            </a:pPr>
            <a:r>
              <a:rPr lang="en-US" sz="1150" dirty="0">
                <a:solidFill>
                  <a:srgbClr val="F0F4FA"/>
                </a:solidFill>
                <a:latin typeface="Calibri" pitchFamily="34" charset="0"/>
                <a:ea typeface="Calibri" pitchFamily="34" charset="-122"/>
                <a:cs typeface="Calibri" pitchFamily="34" charset="-120"/>
              </a:rPr>
              <a:t>FP cost (re-testing good wine) &gt;&gt; FN cost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C9A84C"/>
          </a:solidFill>
          <a:ln w="12700">
            <a:solidFill>
              <a:srgbClr val="C9A84C"/>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All-Model Ablation — Who Benefits from Engineering?</a:t>
            </a:r>
            <a:endParaRPr lang="en-US" sz="2400" dirty="0"/>
          </a:p>
        </p:txBody>
      </p:sp>
      <p:sp>
        <p:nvSpPr>
          <p:cNvPr id="4" name="Shape 2"/>
          <p:cNvSpPr/>
          <p:nvPr/>
        </p:nvSpPr>
        <p:spPr>
          <a:xfrm>
            <a:off x="457200" y="749808"/>
            <a:ext cx="1097280" cy="32004"/>
          </a:xfrm>
          <a:prstGeom prst="rect">
            <a:avLst/>
          </a:prstGeom>
          <a:solidFill>
            <a:srgbClr val="C9A84C"/>
          </a:solidFill>
          <a:ln w="12700">
            <a:solidFill>
              <a:srgbClr val="C9A84C"/>
            </a:solidFill>
            <a:prstDash val="solid"/>
          </a:ln>
        </p:spPr>
      </p:sp>
      <p:pic>
        <p:nvPicPr>
          <p:cNvPr id="5" name="Image 0" descr="/Users/moka/Documents/EE559/Project/figures/ablation_all_models.png">    </p:cNvPr>
          <p:cNvPicPr>
            <a:picLocks noChangeAspect="1"/>
          </p:cNvPicPr>
          <p:nvPr/>
        </p:nvPicPr>
        <p:blipFill>
          <a:blip r:embed="rId1"/>
          <a:stretch>
            <a:fillRect/>
          </a:stretch>
        </p:blipFill>
        <p:spPr>
          <a:xfrm>
            <a:off x="457200" y="914400"/>
            <a:ext cx="5943600" cy="3291840"/>
          </a:xfrm>
          <a:prstGeom prst="rect">
            <a:avLst/>
          </a:prstGeom>
        </p:spPr>
      </p:pic>
      <p:sp>
        <p:nvSpPr>
          <p:cNvPr id="6" name="Shape 3"/>
          <p:cNvSpPr/>
          <p:nvPr/>
        </p:nvSpPr>
        <p:spPr>
          <a:xfrm>
            <a:off x="6583680" y="914400"/>
            <a:ext cx="2331720" cy="329184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7" name="Shape 4"/>
          <p:cNvSpPr/>
          <p:nvPr/>
        </p:nvSpPr>
        <p:spPr>
          <a:xfrm>
            <a:off x="6583680" y="914400"/>
            <a:ext cx="1371600" cy="292608"/>
          </a:xfrm>
          <a:prstGeom prst="rect">
            <a:avLst/>
          </a:prstGeom>
          <a:solidFill>
            <a:srgbClr val="7B1E2C"/>
          </a:solidFill>
          <a:ln w="12700">
            <a:solidFill>
              <a:srgbClr val="7B1E2C"/>
            </a:solidFill>
            <a:prstDash val="solid"/>
          </a:ln>
          <a:effectLst>
            <a:outerShdw sx="100000" sy="100000" kx="0" ky="0" algn="bl" rotWithShape="0" blurRad="101600" dist="38100" dir="8100000">
              <a:srgbClr val="000000">
                <a:alpha val="25000"/>
              </a:srgbClr>
            </a:outerShdw>
          </a:effectLst>
        </p:spPr>
      </p:sp>
      <p:sp>
        <p:nvSpPr>
          <p:cNvPr id="8" name="Text 5"/>
          <p:cNvSpPr/>
          <p:nvPr/>
        </p:nvSpPr>
        <p:spPr>
          <a:xfrm>
            <a:off x="6583680" y="914400"/>
            <a:ext cx="13716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PATTERN</a:t>
            </a:r>
            <a:endParaRPr lang="en-US" sz="1000" dirty="0"/>
          </a:p>
        </p:txBody>
      </p:sp>
      <p:sp>
        <p:nvSpPr>
          <p:cNvPr id="9" name="Text 6"/>
          <p:cNvSpPr/>
          <p:nvPr/>
        </p:nvSpPr>
        <p:spPr>
          <a:xfrm>
            <a:off x="6675120" y="1280160"/>
            <a:ext cx="2194560" cy="2834640"/>
          </a:xfrm>
          <a:prstGeom prst="rect">
            <a:avLst/>
          </a:prstGeom>
          <a:noFill/>
          <a:ln/>
        </p:spPr>
        <p:txBody>
          <a:bodyPr wrap="square" lIns="0" tIns="0" rIns="0" bIns="0"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LR
</a:t>
            </a:r>
            <a:endParaRPr lang="en-US" sz="1100" dirty="0"/>
          </a:p>
          <a:p>
            <a:pPr indent="0" marL="0">
              <a:buNone/>
            </a:pPr>
            <a:r>
              <a:rPr lang="en-US" sz="1100" dirty="0">
                <a:solidFill>
                  <a:srgbClr val="F0F4FA"/>
                </a:solidFill>
                <a:latin typeface="Calibri" pitchFamily="34" charset="0"/>
                <a:ea typeface="Calibri" pitchFamily="34" charset="-122"/>
                <a:cs typeface="Calibri" pitchFamily="34" charset="-120"/>
              </a:rPr>
              <a:t>ΔAUC = +0.0075
</a:t>
            </a:r>
            <a:endParaRPr lang="en-US" sz="1100" dirty="0"/>
          </a:p>
          <a:p>
            <a:pPr indent="0" marL="0">
              <a:buNone/>
            </a:pPr>
            <a:r>
              <a:rPr lang="en-US" sz="1100" i="1" dirty="0">
                <a:solidFill>
                  <a:srgbClr val="9BB0CC"/>
                </a:solidFill>
                <a:latin typeface="Calibri" pitchFamily="34" charset="0"/>
                <a:ea typeface="Calibri" pitchFamily="34" charset="-122"/>
                <a:cs typeface="Calibri" pitchFamily="34" charset="-120"/>
              </a:rPr>
              <a:t>largest gain
</a:t>
            </a:r>
            <a:endParaRPr lang="en-US" sz="1100" dirty="0"/>
          </a:p>
          <a:p>
            <a:pPr indent="0" marL="0">
              <a:buNone/>
            </a:pPr>
            <a:r>
              <a:rPr lang="en-US" sz="1100" b="1" dirty="0">
                <a:solidFill>
                  <a:srgbClr val="C9A84C"/>
                </a:solidFill>
                <a:latin typeface="Calibri" pitchFamily="34" charset="0"/>
                <a:ea typeface="Calibri" pitchFamily="34" charset="-122"/>
                <a:cs typeface="Calibri" pitchFamily="34" charset="-120"/>
              </a:rPr>
              <a:t>SVM
</a:t>
            </a:r>
            <a:endParaRPr lang="en-US" sz="1100" dirty="0"/>
          </a:p>
          <a:p>
            <a:pPr indent="0" marL="0">
              <a:buNone/>
            </a:pPr>
            <a:r>
              <a:rPr lang="en-US" sz="1100" dirty="0">
                <a:solidFill>
                  <a:srgbClr val="F0F4FA"/>
                </a:solidFill>
                <a:latin typeface="Calibri" pitchFamily="34" charset="0"/>
                <a:ea typeface="Calibri" pitchFamily="34" charset="-122"/>
                <a:cs typeface="Calibri" pitchFamily="34" charset="-120"/>
              </a:rPr>
              <a:t>ΔAUC ≈ 0
</a:t>
            </a:r>
            <a:endParaRPr lang="en-US" sz="1100" dirty="0"/>
          </a:p>
          <a:p>
            <a:pPr indent="0" marL="0">
              <a:buNone/>
            </a:pPr>
            <a:r>
              <a:rPr lang="en-US" sz="1100" i="1" dirty="0">
                <a:solidFill>
                  <a:srgbClr val="9BB0CC"/>
                </a:solidFill>
                <a:latin typeface="Calibri" pitchFamily="34" charset="0"/>
                <a:ea typeface="Calibri" pitchFamily="34" charset="-122"/>
                <a:cs typeface="Calibri" pitchFamily="34" charset="-120"/>
              </a:rPr>
              <a:t>RBF absorbs info
</a:t>
            </a:r>
            <a:endParaRPr lang="en-US" sz="1100" dirty="0"/>
          </a:p>
          <a:p>
            <a:pPr indent="0" marL="0">
              <a:buNone/>
            </a:pPr>
            <a:r>
              <a:rPr lang="en-US" sz="1100" b="1" dirty="0">
                <a:solidFill>
                  <a:srgbClr val="C9A84C"/>
                </a:solidFill>
                <a:latin typeface="Calibri" pitchFamily="34" charset="0"/>
                <a:ea typeface="Calibri" pitchFamily="34" charset="-122"/>
                <a:cs typeface="Calibri" pitchFamily="34" charset="-120"/>
              </a:rPr>
              <a:t>RF
</a:t>
            </a:r>
            <a:endParaRPr lang="en-US" sz="1100" dirty="0"/>
          </a:p>
          <a:p>
            <a:pPr indent="0" marL="0">
              <a:buNone/>
            </a:pPr>
            <a:r>
              <a:rPr lang="en-US" sz="1100" dirty="0">
                <a:solidFill>
                  <a:srgbClr val="F0F4FA"/>
                </a:solidFill>
                <a:latin typeface="Calibri" pitchFamily="34" charset="0"/>
                <a:ea typeface="Calibri" pitchFamily="34" charset="-122"/>
                <a:cs typeface="Calibri" pitchFamily="34" charset="-120"/>
              </a:rPr>
              <a:t>ΔAUC = +0.0034
</a:t>
            </a:r>
            <a:endParaRPr lang="en-US" sz="1100" dirty="0"/>
          </a:p>
          <a:p>
            <a:pPr indent="0" marL="0">
              <a:buNone/>
            </a:pPr>
            <a:r>
              <a:rPr lang="en-US" sz="1100" i="1" dirty="0">
                <a:solidFill>
                  <a:srgbClr val="9BB0CC"/>
                </a:solidFill>
                <a:latin typeface="Calibri" pitchFamily="34" charset="0"/>
                <a:ea typeface="Calibri" pitchFamily="34" charset="-122"/>
                <a:cs typeface="Calibri" pitchFamily="34" charset="-120"/>
              </a:rPr>
              <a:t>trees rediscover</a:t>
            </a:r>
            <a:endParaRPr lang="en-US" sz="1100" dirty="0"/>
          </a:p>
        </p:txBody>
      </p:sp>
      <p:sp>
        <p:nvSpPr>
          <p:cNvPr id="10" name="Shape 7"/>
          <p:cNvSpPr/>
          <p:nvPr/>
        </p:nvSpPr>
        <p:spPr>
          <a:xfrm>
            <a:off x="320040" y="4343400"/>
            <a:ext cx="8503920" cy="50292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11" name="Text 8"/>
          <p:cNvSpPr/>
          <p:nvPr/>
        </p:nvSpPr>
        <p:spPr>
          <a:xfrm>
            <a:off x="457200" y="4370832"/>
            <a:ext cx="8321040" cy="457200"/>
          </a:xfrm>
          <a:prstGeom prst="rect">
            <a:avLst/>
          </a:prstGeom>
          <a:noFill/>
          <a:ln/>
        </p:spPr>
        <p:txBody>
          <a:bodyPr wrap="square" lIns="0" tIns="0" rIns="0" bIns="0" rtlCol="0" anchor="ctr"/>
          <a:lstStyle/>
          <a:p>
            <a:pPr algn="ctr" indent="0" marL="0">
              <a:buNone/>
            </a:pPr>
            <a:r>
              <a:rPr lang="en-US" sz="1200" b="1" dirty="0">
                <a:solidFill>
                  <a:srgbClr val="C9A84C"/>
                </a:solidFill>
                <a:latin typeface="Calibri" pitchFamily="34" charset="0"/>
                <a:ea typeface="Calibri" pitchFamily="34" charset="-122"/>
                <a:cs typeface="Calibri" pitchFamily="34" charset="-120"/>
              </a:rPr>
              <a:t>KEY INSIGHT: </a:t>
            </a:r>
            <a:pPr algn="ctr" indent="0" marL="0">
              <a:buNone/>
            </a:pPr>
            <a:r>
              <a:rPr lang="en-US" sz="1200" dirty="0">
                <a:solidFill>
                  <a:srgbClr val="F0F4FA"/>
                </a:solidFill>
                <a:latin typeface="Calibri" pitchFamily="34" charset="0"/>
                <a:ea typeface="Calibri" pitchFamily="34" charset="-122"/>
                <a:cs typeface="Calibri" pitchFamily="34" charset="-120"/>
              </a:rPr>
              <a:t>benefit of feature engineering scales </a:t>
            </a:r>
            <a:pPr algn="ctr" indent="0" marL="0">
              <a:buNone/>
            </a:pPr>
            <a:r>
              <a:rPr lang="en-US" sz="1200" b="1" i="1" dirty="0">
                <a:solidFill>
                  <a:srgbClr val="C9A84C"/>
                </a:solidFill>
                <a:latin typeface="Calibri" pitchFamily="34" charset="0"/>
                <a:ea typeface="Calibri" pitchFamily="34" charset="-122"/>
                <a:cs typeface="Calibri" pitchFamily="34" charset="-120"/>
              </a:rPr>
              <a:t>inversely with model capacity </a:t>
            </a:r>
            <a:pPr algn="ctr" indent="0" marL="0">
              <a:buNone/>
            </a:pPr>
            <a:r>
              <a:rPr lang="en-US" sz="1200" dirty="0">
                <a:solidFill>
                  <a:srgbClr val="F0F4FA"/>
                </a:solidFill>
                <a:latin typeface="Calibri" pitchFamily="34" charset="0"/>
                <a:ea typeface="Calibri" pitchFamily="34" charset="-122"/>
                <a:cs typeface="Calibri" pitchFamily="34" charset="-120"/>
              </a:rPr>
              <a:t>— exactly the predicted hierarchy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7B1E2C"/>
          </a:solidFill>
          <a:ln w="12700">
            <a:solidFill>
              <a:srgbClr val="7B1E2C"/>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Calibration &amp; Feature Importance</a:t>
            </a:r>
            <a:endParaRPr lang="en-US" sz="2400" dirty="0"/>
          </a:p>
        </p:txBody>
      </p:sp>
      <p:sp>
        <p:nvSpPr>
          <p:cNvPr id="4" name="Shape 2"/>
          <p:cNvSpPr/>
          <p:nvPr/>
        </p:nvSpPr>
        <p:spPr>
          <a:xfrm>
            <a:off x="457200" y="749808"/>
            <a:ext cx="1097280" cy="32004"/>
          </a:xfrm>
          <a:prstGeom prst="rect">
            <a:avLst/>
          </a:prstGeom>
          <a:solidFill>
            <a:srgbClr val="C9A84C"/>
          </a:solidFill>
          <a:ln w="12700">
            <a:solidFill>
              <a:srgbClr val="C9A84C"/>
            </a:solidFill>
            <a:prstDash val="solid"/>
          </a:ln>
        </p:spPr>
      </p:sp>
      <p:sp>
        <p:nvSpPr>
          <p:cNvPr id="5" name="Shape 3"/>
          <p:cNvSpPr/>
          <p:nvPr/>
        </p:nvSpPr>
        <p:spPr>
          <a:xfrm>
            <a:off x="228600" y="914400"/>
            <a:ext cx="2926080" cy="292608"/>
          </a:xfrm>
          <a:prstGeom prst="rect">
            <a:avLst/>
          </a:prstGeom>
          <a:solidFill>
            <a:srgbClr val="7B1E2C"/>
          </a:solidFill>
          <a:ln w="12700">
            <a:solidFill>
              <a:srgbClr val="7B1E2C"/>
            </a:solidFill>
            <a:prstDash val="solid"/>
          </a:ln>
          <a:effectLst>
            <a:outerShdw sx="100000" sy="100000" kx="0" ky="0" algn="bl" rotWithShape="0" blurRad="101600" dist="38100" dir="8100000">
              <a:srgbClr val="000000">
                <a:alpha val="25000"/>
              </a:srgbClr>
            </a:outerShdw>
          </a:effectLst>
        </p:spPr>
      </p:sp>
      <p:sp>
        <p:nvSpPr>
          <p:cNvPr id="6" name="Text 4"/>
          <p:cNvSpPr/>
          <p:nvPr/>
        </p:nvSpPr>
        <p:spPr>
          <a:xfrm>
            <a:off x="228600" y="914400"/>
            <a:ext cx="29260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RELIABILITY DIAGRAM (BRIER ↓)</a:t>
            </a:r>
            <a:endParaRPr lang="en-US" sz="1000" dirty="0"/>
          </a:p>
        </p:txBody>
      </p:sp>
      <p:pic>
        <p:nvPicPr>
          <p:cNvPr id="7" name="Image 0" descr="/Users/moka/Documents/EE559/Project/figures/calibration_test.png">    </p:cNvPr>
          <p:cNvPicPr>
            <a:picLocks noChangeAspect="1"/>
          </p:cNvPicPr>
          <p:nvPr/>
        </p:nvPicPr>
        <p:blipFill>
          <a:blip r:embed="rId1"/>
          <a:stretch>
            <a:fillRect/>
          </a:stretch>
        </p:blipFill>
        <p:spPr>
          <a:xfrm>
            <a:off x="274320" y="1280160"/>
            <a:ext cx="4114800" cy="3291840"/>
          </a:xfrm>
          <a:prstGeom prst="rect">
            <a:avLst/>
          </a:prstGeom>
        </p:spPr>
      </p:pic>
      <p:sp>
        <p:nvSpPr>
          <p:cNvPr id="8" name="Shape 5"/>
          <p:cNvSpPr/>
          <p:nvPr/>
        </p:nvSpPr>
        <p:spPr>
          <a:xfrm>
            <a:off x="4663440" y="914400"/>
            <a:ext cx="2560320" cy="292608"/>
          </a:xfrm>
          <a:prstGeom prst="rect">
            <a:avLst/>
          </a:prstGeom>
          <a:solidFill>
            <a:srgbClr val="7B1E2C"/>
          </a:solidFill>
          <a:ln w="12700">
            <a:solidFill>
              <a:srgbClr val="7B1E2C"/>
            </a:solidFill>
            <a:prstDash val="solid"/>
          </a:ln>
          <a:effectLst>
            <a:outerShdw sx="100000" sy="100000" kx="0" ky="0" algn="bl" rotWithShape="0" blurRad="101600" dist="38100" dir="8100000">
              <a:srgbClr val="000000">
                <a:alpha val="25000"/>
              </a:srgbClr>
            </a:outerShdw>
          </a:effectLst>
        </p:spPr>
      </p:sp>
      <p:sp>
        <p:nvSpPr>
          <p:cNvPr id="9" name="Text 6"/>
          <p:cNvSpPr/>
          <p:nvPr/>
        </p:nvSpPr>
        <p:spPr>
          <a:xfrm>
            <a:off x="4663440" y="914400"/>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RF FEATURE IMPORTANCE</a:t>
            </a:r>
            <a:endParaRPr lang="en-US" sz="1000" dirty="0"/>
          </a:p>
        </p:txBody>
      </p:sp>
      <p:pic>
        <p:nvPicPr>
          <p:cNvPr id="10" name="Image 1" descr="/Users/moka/Documents/EE559/Project/figures/rf_feature_importance.png">    </p:cNvPr>
          <p:cNvPicPr>
            <a:picLocks noChangeAspect="1"/>
          </p:cNvPicPr>
          <p:nvPr/>
        </p:nvPicPr>
        <p:blipFill>
          <a:blip r:embed="rId2"/>
          <a:stretch>
            <a:fillRect/>
          </a:stretch>
        </p:blipFill>
        <p:spPr>
          <a:xfrm>
            <a:off x="4617720" y="1280160"/>
            <a:ext cx="4206240" cy="3291840"/>
          </a:xfrm>
          <a:prstGeom prst="rect">
            <a:avLst/>
          </a:prstGeom>
        </p:spPr>
      </p:pic>
      <p:sp>
        <p:nvSpPr>
          <p:cNvPr id="11" name="Shape 7"/>
          <p:cNvSpPr/>
          <p:nvPr/>
        </p:nvSpPr>
        <p:spPr>
          <a:xfrm>
            <a:off x="228600" y="4617720"/>
            <a:ext cx="8641080" cy="411480"/>
          </a:xfrm>
          <a:prstGeom prst="rect">
            <a:avLst/>
          </a:prstGeom>
          <a:solidFill>
            <a:srgbClr val="1E3A5F"/>
          </a:solidFill>
          <a:ln w="12700">
            <a:solidFill>
              <a:srgbClr val="2C3E5A"/>
            </a:solidFill>
            <a:prstDash val="solid"/>
          </a:ln>
          <a:effectLst>
            <a:outerShdw sx="100000" sy="100000" kx="0" ky="0" algn="bl" rotWithShape="0" blurRad="101600" dist="38100" dir="8100000">
              <a:srgbClr val="000000">
                <a:alpha val="25000"/>
              </a:srgbClr>
            </a:outerShdw>
          </a:effectLst>
        </p:spPr>
      </p:sp>
      <p:sp>
        <p:nvSpPr>
          <p:cNvPr id="12" name="Text 8"/>
          <p:cNvSpPr/>
          <p:nvPr/>
        </p:nvSpPr>
        <p:spPr>
          <a:xfrm>
            <a:off x="365760" y="4636008"/>
            <a:ext cx="8412480" cy="384048"/>
          </a:xfrm>
          <a:prstGeom prst="rect">
            <a:avLst/>
          </a:prstGeom>
          <a:noFill/>
          <a:ln/>
        </p:spPr>
        <p:txBody>
          <a:bodyPr wrap="square" lIns="0" tIns="0" rIns="0" bIns="0" rtlCol="0" anchor="ctr"/>
          <a:lstStyle/>
          <a:p>
            <a:pPr algn="ctr" indent="0" marL="0">
              <a:buNone/>
            </a:pPr>
            <a:r>
              <a:rPr lang="en-US" sz="1100" b="1" dirty="0">
                <a:solidFill>
                  <a:srgbClr val="C9A84C"/>
                </a:solidFill>
                <a:latin typeface="Calibri" pitchFamily="34" charset="0"/>
                <a:ea typeface="Calibri" pitchFamily="34" charset="-122"/>
                <a:cs typeface="Calibri" pitchFamily="34" charset="-120"/>
              </a:rPr>
              <a:t>RF has lowest Brier (0.124) — best calibrated  |  </a:t>
            </a:r>
            <a:pPr algn="ctr" indent="0" marL="0">
              <a:buNone/>
            </a:pPr>
            <a:r>
              <a:rPr lang="en-US" sz="1100" dirty="0">
                <a:solidFill>
                  <a:srgbClr val="F0F4FA"/>
                </a:solidFill>
                <a:latin typeface="Calibri" pitchFamily="34" charset="0"/>
                <a:ea typeface="Calibri" pitchFamily="34" charset="-122"/>
                <a:cs typeface="Calibri" pitchFamily="34" charset="-120"/>
              </a:rPr>
              <a:t>Alcohol dominates importance (matches EDA r = +0.44)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B1E2C"/>
          </a:solidFill>
          <a:ln w="12700">
            <a:solidFill>
              <a:srgbClr val="7B1E2C"/>
            </a:solidFill>
            <a:prstDash val="solid"/>
          </a:ln>
        </p:spPr>
      </p:sp>
      <p:sp>
        <p:nvSpPr>
          <p:cNvPr id="3" name="Shape 1"/>
          <p:cNvSpPr/>
          <p:nvPr/>
        </p:nvSpPr>
        <p:spPr>
          <a:xfrm>
            <a:off x="0" y="5088636"/>
            <a:ext cx="9144000" cy="54864"/>
          </a:xfrm>
          <a:prstGeom prst="rect">
            <a:avLst/>
          </a:prstGeom>
          <a:solidFill>
            <a:srgbClr val="7B1E2C"/>
          </a:solidFill>
          <a:ln w="12700">
            <a:solidFill>
              <a:srgbClr val="7B1E2C"/>
            </a:solidFill>
            <a:prstDash val="solid"/>
          </a:ln>
        </p:spPr>
      </p:sp>
      <p:sp>
        <p:nvSpPr>
          <p:cNvPr id="4" name="Text 2"/>
          <p:cNvSpPr/>
          <p:nvPr/>
        </p:nvSpPr>
        <p:spPr>
          <a:xfrm>
            <a:off x="457200" y="22860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Discussion &amp; Conclusion</a:t>
            </a:r>
            <a:endParaRPr lang="en-US" sz="3000" dirty="0"/>
          </a:p>
        </p:txBody>
      </p:sp>
      <p:sp>
        <p:nvSpPr>
          <p:cNvPr id="5" name="Shape 3"/>
          <p:cNvSpPr/>
          <p:nvPr/>
        </p:nvSpPr>
        <p:spPr>
          <a:xfrm>
            <a:off x="457200" y="841248"/>
            <a:ext cx="914400" cy="36576"/>
          </a:xfrm>
          <a:prstGeom prst="rect">
            <a:avLst/>
          </a:prstGeom>
          <a:solidFill>
            <a:srgbClr val="C9A84C"/>
          </a:solidFill>
          <a:ln w="12700">
            <a:solidFill>
              <a:srgbClr val="C9A84C"/>
            </a:solidFill>
            <a:prstDash val="solid"/>
          </a:ln>
        </p:spPr>
      </p:sp>
      <p:sp>
        <p:nvSpPr>
          <p:cNvPr id="6" name="Text 4"/>
          <p:cNvSpPr/>
          <p:nvPr/>
        </p:nvSpPr>
        <p:spPr>
          <a:xfrm>
            <a:off x="457200" y="960120"/>
            <a:ext cx="8229600" cy="3383280"/>
          </a:xfrm>
          <a:prstGeom prst="rect">
            <a:avLst/>
          </a:prstGeom>
          <a:noFill/>
          <a:ln/>
        </p:spPr>
        <p:txBody>
          <a:bodyPr wrap="square" rtlCol="0" anchor="ctr"/>
          <a:lstStyle/>
          <a:p>
            <a:pPr marL="342900" indent="-342900">
              <a:spcAft>
                <a:spcPts val="800"/>
              </a:spcAft>
              <a:buSzPct val="100000"/>
              <a:buChar char="•"/>
            </a:pPr>
            <a:r>
              <a:rPr lang="en-US" sz="1200" dirty="0">
                <a:solidFill>
                  <a:srgbClr val="F0F4FA"/>
                </a:solidFill>
                <a:latin typeface="Calibri" pitchFamily="34" charset="0"/>
                <a:ea typeface="Calibri" pitchFamily="34" charset="-122"/>
                <a:cs typeface="Calibri" pitchFamily="34" charset="-120"/>
              </a:rPr>
              <a:t>Random Forest wins on overall AUC (0.904), F1, and calibration (Brier 0.124)</a:t>
            </a:r>
            <a:endParaRPr lang="en-US" sz="1200" dirty="0"/>
          </a:p>
          <a:p>
            <a:pPr marL="342900" indent="-342900">
              <a:spcAft>
                <a:spcPts val="800"/>
              </a:spcAft>
              <a:buSzPct val="100000"/>
              <a:buChar char="•"/>
            </a:pPr>
            <a:r>
              <a:rPr lang="en-US" sz="1200" dirty="0">
                <a:solidFill>
                  <a:srgbClr val="F0F4FA"/>
                </a:solidFill>
                <a:latin typeface="Calibri" pitchFamily="34" charset="0"/>
                <a:ea typeface="Calibri" pitchFamily="34" charset="-122"/>
                <a:cs typeface="Calibri" pitchFamily="34" charset="-120"/>
              </a:rPr>
              <a:t>SVM with balanced class weights wins on low-quality recall (0.796) — best for production quality gates</a:t>
            </a:r>
            <a:endParaRPr lang="en-US" sz="1200" dirty="0"/>
          </a:p>
          <a:p>
            <a:pPr marL="342900" indent="-342900">
              <a:spcAft>
                <a:spcPts val="800"/>
              </a:spcAft>
              <a:buSzPct val="100000"/>
              <a:buChar char="•"/>
            </a:pPr>
            <a:r>
              <a:rPr lang="en-US" sz="1200" dirty="0">
                <a:solidFill>
                  <a:srgbClr val="F0F4FA"/>
                </a:solidFill>
                <a:latin typeface="Calibri" pitchFamily="34" charset="0"/>
                <a:ea typeface="Calibri" pitchFamily="34" charset="-122"/>
                <a:cs typeface="Calibri" pitchFamily="34" charset="-120"/>
              </a:rPr>
              <a:t>All three pairwise differences are statistically significant (McNemar p &lt; 0.001)</a:t>
            </a:r>
            <a:endParaRPr lang="en-US" sz="1200" dirty="0"/>
          </a:p>
          <a:p>
            <a:pPr marL="342900" indent="-342900">
              <a:spcAft>
                <a:spcPts val="800"/>
              </a:spcAft>
              <a:buSzPct val="100000"/>
              <a:buChar char="•"/>
            </a:pPr>
            <a:r>
              <a:rPr lang="en-US" sz="1200" dirty="0">
                <a:solidFill>
                  <a:srgbClr val="F0F4FA"/>
                </a:solidFill>
                <a:latin typeface="Calibri" pitchFamily="34" charset="0"/>
                <a:ea typeface="Calibri" pitchFamily="34" charset="-122"/>
                <a:cs typeface="Calibri" pitchFamily="34" charset="-120"/>
              </a:rPr>
              <a:t>Ranking is robust across 5 random seeds (non-overlapping ±2σ intervals)</a:t>
            </a:r>
            <a:endParaRPr lang="en-US" sz="1200" dirty="0"/>
          </a:p>
          <a:p>
            <a:pPr marL="342900" indent="-342900">
              <a:spcAft>
                <a:spcPts val="800"/>
              </a:spcAft>
              <a:buSzPct val="100000"/>
              <a:buChar char="•"/>
            </a:pPr>
            <a:r>
              <a:rPr lang="en-US" sz="1200" dirty="0">
                <a:solidFill>
                  <a:srgbClr val="F0F4FA"/>
                </a:solidFill>
                <a:latin typeface="Calibri" pitchFamily="34" charset="0"/>
                <a:ea typeface="Calibri" pitchFamily="34" charset="-122"/>
                <a:cs typeface="Calibri" pitchFamily="34" charset="-120"/>
              </a:rPr>
              <a:t>Engineered features benefit linear models most (LR ΔAUC = +0.008, RF ΔAUC = +0.003)</a:t>
            </a:r>
            <a:endParaRPr lang="en-US" sz="1200" dirty="0"/>
          </a:p>
          <a:p>
            <a:pPr marL="342900" indent="-342900">
              <a:spcAft>
                <a:spcPts val="800"/>
              </a:spcAft>
              <a:buSzPct val="100000"/>
              <a:buChar char="•"/>
            </a:pPr>
            <a:r>
              <a:rPr lang="en-US" sz="1200" dirty="0">
                <a:solidFill>
                  <a:srgbClr val="F0F4FA"/>
                </a:solidFill>
                <a:latin typeface="Calibri" pitchFamily="34" charset="0"/>
                <a:ea typeface="Calibri" pitchFamily="34" charset="-122"/>
                <a:cs typeface="Calibri" pitchFamily="34" charset="-120"/>
              </a:rPr>
              <a:t>Density confirmed redundant via VIF + ablation — could be dropped in deployment</a:t>
            </a:r>
            <a:endParaRPr lang="en-US" sz="1200" dirty="0"/>
          </a:p>
          <a:p>
            <a:pPr marL="342900" indent="-342900">
              <a:spcAft>
                <a:spcPts val="800"/>
              </a:spcAft>
              <a:buSzPct val="100000"/>
              <a:buChar char="•"/>
            </a:pPr>
            <a:r>
              <a:rPr lang="en-US" sz="1200" dirty="0">
                <a:solidFill>
                  <a:srgbClr val="F0F4FA"/>
                </a:solidFill>
                <a:latin typeface="Calibri" pitchFamily="34" charset="0"/>
                <a:ea typeface="Calibri" pitchFamily="34" charset="-122"/>
                <a:cs typeface="Calibri" pitchFamily="34" charset="-120"/>
              </a:rPr>
              <a:t>Limitations: binarization loses ordinal info; no producer/vintage covariates</a:t>
            </a:r>
            <a:endParaRPr lang="en-US" sz="1200" dirty="0"/>
          </a:p>
          <a:p>
            <a:pPr marL="342900" indent="-342900">
              <a:spcAft>
                <a:spcPts val="800"/>
              </a:spcAft>
              <a:buSzPct val="100000"/>
              <a:buChar char="•"/>
            </a:pPr>
            <a:r>
              <a:rPr lang="en-US" sz="1200" dirty="0">
                <a:solidFill>
                  <a:srgbClr val="F0F4FA"/>
                </a:solidFill>
                <a:latin typeface="Calibri" pitchFamily="34" charset="0"/>
                <a:ea typeface="Calibri" pitchFamily="34" charset="-122"/>
                <a:cs typeface="Calibri" pitchFamily="34" charset="-120"/>
              </a:rPr>
              <a:t>Future: MLP, SHAP attribution, ordinal regression, cost-sensitive learning with elicited FN/FP costs</a:t>
            </a:r>
            <a:endParaRPr lang="en-US" sz="1200" dirty="0"/>
          </a:p>
        </p:txBody>
      </p:sp>
      <p:sp>
        <p:nvSpPr>
          <p:cNvPr id="7" name="Shape 5"/>
          <p:cNvSpPr/>
          <p:nvPr/>
        </p:nvSpPr>
        <p:spPr>
          <a:xfrm>
            <a:off x="457200" y="4434840"/>
            <a:ext cx="8229600" cy="502920"/>
          </a:xfrm>
          <a:prstGeom prst="rect">
            <a:avLst/>
          </a:prstGeom>
          <a:solidFill>
            <a:srgbClr val="7B1E2C"/>
          </a:solidFill>
          <a:ln w="12700">
            <a:solidFill>
              <a:srgbClr val="7B1E2C"/>
            </a:solidFill>
            <a:prstDash val="solid"/>
          </a:ln>
          <a:effectLst>
            <a:outerShdw sx="100000" sy="100000" kx="0" ky="0" algn="bl" rotWithShape="0" blurRad="101600" dist="38100" dir="8100000">
              <a:srgbClr val="000000">
                <a:alpha val="25000"/>
              </a:srgbClr>
            </a:outerShdw>
          </a:effectLst>
        </p:spPr>
      </p:sp>
      <p:sp>
        <p:nvSpPr>
          <p:cNvPr id="8" name="Text 6"/>
          <p:cNvSpPr/>
          <p:nvPr/>
        </p:nvSpPr>
        <p:spPr>
          <a:xfrm>
            <a:off x="457200" y="4434840"/>
            <a:ext cx="822960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Thank you!  Questions welcome.</a:t>
            </a:r>
            <a:endParaRPr lang="en-US" sz="1800" dirty="0"/>
          </a:p>
        </p:txBody>
      </p:sp>
      <p:sp>
        <p:nvSpPr>
          <p:cNvPr id="9" name="Text 7"/>
          <p:cNvSpPr/>
          <p:nvPr/>
        </p:nvSpPr>
        <p:spPr>
          <a:xfrm>
            <a:off x="457200" y="4937760"/>
            <a:ext cx="8229600" cy="182880"/>
          </a:xfrm>
          <a:prstGeom prst="rect">
            <a:avLst/>
          </a:prstGeom>
          <a:noFill/>
          <a:ln/>
        </p:spPr>
        <p:txBody>
          <a:bodyPr wrap="square" lIns="0" tIns="0" rIns="0" bIns="0" rtlCol="0" anchor="ctr"/>
          <a:lstStyle/>
          <a:p>
            <a:pPr algn="ctr" indent="0" marL="0">
              <a:buNone/>
            </a:pPr>
            <a:r>
              <a:rPr lang="en-US" sz="900" dirty="0">
                <a:solidFill>
                  <a:srgbClr val="9BB0CC"/>
                </a:solidFill>
                <a:latin typeface="Calibri" pitchFamily="34" charset="0"/>
                <a:ea typeface="Calibri" pitchFamily="34" charset="-122"/>
                <a:cs typeface="Calibri" pitchFamily="34" charset="-120"/>
              </a:rPr>
              <a:t>Mengjia Shang  ·  7338151449  ·  EE559 Spring 2026  ·  Prof. Anand A. Joshi</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Wine Quality from Physicochemical Properties</dc:title>
  <dc:subject>PptxGenJS Presentation</dc:subject>
  <dc:creator>Mengjia Shang</dc:creator>
  <cp:lastModifiedBy>Mengjia Shang</cp:lastModifiedBy>
  <cp:revision>1</cp:revision>
  <dcterms:created xsi:type="dcterms:W3CDTF">2026-05-05T00:12:29Z</dcterms:created>
  <dcterms:modified xsi:type="dcterms:W3CDTF">2026-05-05T00:12:29Z</dcterms:modified>
</cp:coreProperties>
</file>